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95497b-d315-dd66-2e1d-ed66bb3b5d62}">
          <p14:sldIdLst>
            <p14:sldId id="256"/>
            <p14:sldId id="257"/>
            <p14:sldId id="258"/>
          </p14:sldIdLst>
        </p14:section>
        <p14:section name="Architecture" id="{99acc8b6-6ea9-3dd7-d7c0-9adabbfecfcd}">
          <p14:sldIdLst>
            <p14:sldId id="259"/>
            <p14:sldId id="260"/>
          </p14:sldIdLst>
        </p14:section>
        <p14:section name="Delivery" id="{c6d884e3-89c8-59f3-e1cb-ac2720460ade}">
          <p14:sldIdLst>
            <p14:sldId id="261"/>
            <p14:sldId id="262"/>
            <p14:sldId id="263"/>
          </p14:sldIdLst>
        </p14:section>
        <p14:section name="Platform" id="{90d6bcf3-b5ae-a1a2-742a-1a50d969e431}">
          <p14:sldIdLst>
            <p14:sldId id="264"/>
            <p14:sldId id="265"/>
            <p14:sldId id="266"/>
            <p14:sldId id="267"/>
          </p14:sldIdLst>
        </p14:section>
        <p14:section name="Wrap-up" id="{63e6f155-a481-9982-9d2d-182b8e308b5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BloodBridge: a blood-bank operations app used as the payload for an end-to-end DevSecOps pipeline — from git push to a monitored, autoscaling, GitOps-managed EKS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domain problem in 30 seconds, then the numbers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these live later: register donor, record donation, create a critical AB- request and fulfil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layers: what the app is built with, how it is delivered, where it runs, how we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a request: user -&gt; AWS load balancer -&gt; Traefik -&gt; / goes to the frontend, /api goes to the backend -&gt; PostgreSQL. Prometheus scrapes /metrics; Argo CD keeps everything in sync with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stages left to right, then the three rules underneath. Live: push a commit and show the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GitHub Actions run for this repository. In the video, open the run itself and show the Trivy log and the SBOM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Trivy finding from the first pipeline run: the backend image failed on 4 HIGH CVEs (urllib3 CVE-2026-97687/97689, msgpack GHSA-6v7p-g79w-8964, setuptools CVE-2025-47273). All were libraries vendored inside pip, not app dependencies. Fix: uninstall pip from the runtime image instead of suppressing the CVEs — the gate stopped the vulnerable image from ever reaching GHCR.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terraform plan output and the AWS console: VPC with 2 public + 2 private subnets, EKS cluster with its node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Argo CD app tree, kubectl get pods/svc/ingress/hpa, helm list, and helm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Prometheus Targets page with bloodbridge-backend UP, then the Grafana dashboard while running scripts/load-test.sh to make the HPA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scenario 2 live: apply the manifest, diagnose with the runbook, patch the selector.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lessons and the production roadmap. Thank the audience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577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2C9D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2C9D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BloodBridge · DevSecOps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ranay-reddy2/BloodBridge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4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nay-reddy2/BloodBridge/actions/runs/38284457781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BloodBridge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2C9D2"/>
                </a:solidFill>
              </a:rPr>
              <a:t>Blood donor registry, inventory and hospital request fulfilment — shipped through a full DevSecOps pipeline to Amazon EKS</a:t>
            </a:r>
            <a:endParaRPr lang="en-US" sz="1800" dirty="0"/>
          </a:p>
        </p:txBody>
      </p:sp>
      <p:sp>
        <p:nvSpPr>
          <p:cNvPr id="4" name="text-1"/>
          <p:cNvSpPr txBox="1"/>
          <p:nvPr/>
        </p:nvSpPr>
        <p:spPr>
          <a:xfrm>
            <a:off x="548640" y="3749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Pranay Reddy 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DevOps Final Capstone · October 2026</a:t>
            </a:r>
            <a:endParaRPr lang="en-US" sz="1400" dirty="0"/>
          </a:p>
          <a:p>
            <a:pPr indent="0" marL="0">
              <a:buNone/>
            </a:pPr>
            <a:r>
              <a:rPr lang="en-US" sz="1400" u="sng" dirty="0">
                <a:solidFill>
                  <a:srgbClr val="F2C9D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github.com/pranay-reddy2/BloodBridge</a:t>
            </a:r>
            <a:endParaRPr lang="en-US" sz="1400" dirty="0"/>
          </a:p>
        </p:txBody>
      </p:sp>
      <p:sp>
        <p:nvSpPr>
          <p:cNvPr id="5" name="hero-circle"/>
          <p:cNvSpPr/>
          <p:nvPr/>
        </p:nvSpPr>
        <p:spPr>
          <a:xfrm>
            <a:off x="6400800" y="114300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-dro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91640"/>
            <a:ext cx="100584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a blood bank needs better software</a:t>
            </a:r>
            <a:endParaRPr lang="en-US" sz="2800" dirty="0"/>
          </a:p>
        </p:txBody>
      </p:sp>
      <p:sp>
        <p:nvSpPr>
          <p:cNvPr id="3" name="text-2"/>
          <p:cNvSpPr txBox="1"/>
          <p:nvPr/>
        </p:nvSpPr>
        <p:spPr>
          <a:xfrm>
            <a:off x="457200" y="11430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Platelets expire in 5 days — units are lost when nobody issues the oldest stock first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O-negative is the universal donor and only ~1% of donors — it gets used when another group would do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Critical hospital requests compete with routine ones in spreadsheets and phone calls</a:t>
            </a:r>
            <a:endParaRPr lang="en-US" sz="1600" dirty="0"/>
          </a:p>
        </p:txBody>
      </p:sp>
      <p:sp>
        <p:nvSpPr>
          <p:cNvPr id="4" name="text-3"/>
          <p:cNvSpPr txBox="1"/>
          <p:nvPr/>
        </p:nvSpPr>
        <p:spPr>
          <a:xfrm>
            <a:off x="45720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BloodBridge matches every request by ABO/Rh compatibility, keeps O- for last, and issues first-expiring units first.</a:t>
            </a:r>
            <a:endParaRPr lang="en-US" sz="1400" dirty="0"/>
          </a:p>
        </p:txBody>
      </p:sp>
      <p:sp>
        <p:nvSpPr>
          <p:cNvPr id="5" name="card-4"/>
          <p:cNvSpPr/>
          <p:nvPr/>
        </p:nvSpPr>
        <p:spPr>
          <a:xfrm>
            <a:off x="4846320" y="1143000"/>
            <a:ext cx="17830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5"/>
          <p:cNvSpPr txBox="1"/>
          <p:nvPr/>
        </p:nvSpPr>
        <p:spPr>
          <a:xfrm>
            <a:off x="4983480" y="1325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600" dirty="0"/>
          </a:p>
        </p:txBody>
      </p:sp>
      <p:sp>
        <p:nvSpPr>
          <p:cNvPr id="7" name="text-6"/>
          <p:cNvSpPr txBox="1"/>
          <p:nvPr/>
        </p:nvSpPr>
        <p:spPr>
          <a:xfrm>
            <a:off x="498348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blood groups matched by ABO/Rh rules</a:t>
            </a:r>
            <a:endParaRPr lang="en-US" sz="1200" dirty="0"/>
          </a:p>
        </p:txBody>
      </p:sp>
      <p:sp>
        <p:nvSpPr>
          <p:cNvPr id="8" name="card-7"/>
          <p:cNvSpPr/>
          <p:nvPr/>
        </p:nvSpPr>
        <p:spPr>
          <a:xfrm>
            <a:off x="6812280" y="1143000"/>
            <a:ext cx="17830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>
            <a:off x="6949440" y="13258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days</a:t>
            </a:r>
            <a:endParaRPr lang="en-US" sz="3600" dirty="0"/>
          </a:p>
        </p:txBody>
      </p:sp>
      <p:sp>
        <p:nvSpPr>
          <p:cNvPr id="10" name="text-9"/>
          <p:cNvSpPr txBox="1"/>
          <p:nvPr/>
        </p:nvSpPr>
        <p:spPr>
          <a:xfrm>
            <a:off x="694944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platelet shelf life tracked per unit</a:t>
            </a:r>
            <a:endParaRPr lang="en-US" sz="1200" dirty="0"/>
          </a:p>
        </p:txBody>
      </p:sp>
      <p:sp>
        <p:nvSpPr>
          <p:cNvPr id="11" name="card-10"/>
          <p:cNvSpPr/>
          <p:nvPr/>
        </p:nvSpPr>
        <p:spPr>
          <a:xfrm>
            <a:off x="4846320" y="2834640"/>
            <a:ext cx="17830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11"/>
          <p:cNvSpPr txBox="1"/>
          <p:nvPr/>
        </p:nvSpPr>
        <p:spPr>
          <a:xfrm>
            <a:off x="4983480" y="3017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13" name="text-12"/>
          <p:cNvSpPr txBox="1"/>
          <p:nvPr/>
        </p:nvSpPr>
        <p:spPr>
          <a:xfrm>
            <a:off x="4983480" y="3703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REST API endpoints</a:t>
            </a:r>
            <a:endParaRPr lang="en-US" sz="1200" dirty="0"/>
          </a:p>
        </p:txBody>
      </p:sp>
      <p:sp>
        <p:nvSpPr>
          <p:cNvPr id="14" name="card-13"/>
          <p:cNvSpPr/>
          <p:nvPr/>
        </p:nvSpPr>
        <p:spPr>
          <a:xfrm>
            <a:off x="6812280" y="2834640"/>
            <a:ext cx="17830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-14"/>
          <p:cNvSpPr txBox="1"/>
          <p:nvPr/>
        </p:nvSpPr>
        <p:spPr>
          <a:xfrm>
            <a:off x="6949440" y="30175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600" dirty="0"/>
          </a:p>
        </p:txBody>
      </p:sp>
      <p:sp>
        <p:nvSpPr>
          <p:cNvPr id="16" name="text-15"/>
          <p:cNvSpPr txBox="1"/>
          <p:nvPr/>
        </p:nvSpPr>
        <p:spPr>
          <a:xfrm>
            <a:off x="6949440" y="3703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automated tests · 96% coverage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the application does</a:t>
            </a:r>
            <a:endParaRPr lang="en-US" sz="2800" dirty="0"/>
          </a:p>
        </p:txBody>
      </p:sp>
      <p:sp>
        <p:nvSpPr>
          <p:cNvPr id="3" name="card-16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7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400861"/>
            <a:ext cx="261518" cy="261518"/>
          </a:xfrm>
          <a:prstGeom prst="rect">
            <a:avLst/>
          </a:prstGeom>
        </p:spPr>
      </p:pic>
      <p:sp>
        <p:nvSpPr>
          <p:cNvPr id="6" name="text-19"/>
          <p:cNvSpPr txBox="1"/>
          <p:nvPr/>
        </p:nvSpPr>
        <p:spPr>
          <a:xfrm>
            <a:off x="1280160" y="1344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Donor registry</a:t>
            </a:r>
            <a:endParaRPr lang="en-US" sz="1500" dirty="0"/>
          </a:p>
        </p:txBody>
      </p:sp>
      <p:sp>
        <p:nvSpPr>
          <p:cNvPr id="7" name="text-20"/>
          <p:cNvSpPr txBox="1"/>
          <p:nvPr/>
        </p:nvSpPr>
        <p:spPr>
          <a:xfrm>
            <a:off x="64008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Search by group and city; 90-day donation eligibility computed per donor</a:t>
            </a:r>
            <a:endParaRPr lang="en-US" sz="1200" dirty="0"/>
          </a:p>
        </p:txBody>
      </p:sp>
      <p:sp>
        <p:nvSpPr>
          <p:cNvPr id="8" name="card-21"/>
          <p:cNvSpPr/>
          <p:nvPr/>
        </p:nvSpPr>
        <p:spPr>
          <a:xfrm>
            <a:off x="324612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22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1400861"/>
            <a:ext cx="261518" cy="261518"/>
          </a:xfrm>
          <a:prstGeom prst="rect">
            <a:avLst/>
          </a:prstGeom>
        </p:spPr>
      </p:pic>
      <p:sp>
        <p:nvSpPr>
          <p:cNvPr id="11" name="text-24"/>
          <p:cNvSpPr txBox="1"/>
          <p:nvPr/>
        </p:nvSpPr>
        <p:spPr>
          <a:xfrm>
            <a:off x="4069080" y="1344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Donations → units</a:t>
            </a:r>
            <a:endParaRPr lang="en-US" sz="1500" dirty="0"/>
          </a:p>
        </p:txBody>
      </p:sp>
      <p:sp>
        <p:nvSpPr>
          <p:cNvPr id="12" name="text-25"/>
          <p:cNvSpPr txBox="1"/>
          <p:nvPr/>
        </p:nvSpPr>
        <p:spPr>
          <a:xfrm>
            <a:off x="342900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donation becomes a unit with a component shelf life (5–365 days)</a:t>
            </a:r>
            <a:endParaRPr lang="en-US" sz="1200" dirty="0"/>
          </a:p>
        </p:txBody>
      </p:sp>
      <p:sp>
        <p:nvSpPr>
          <p:cNvPr id="13" name="card-26"/>
          <p:cNvSpPr/>
          <p:nvPr/>
        </p:nvSpPr>
        <p:spPr>
          <a:xfrm>
            <a:off x="603504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27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2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400861"/>
            <a:ext cx="261518" cy="261518"/>
          </a:xfrm>
          <a:prstGeom prst="rect">
            <a:avLst/>
          </a:prstGeom>
        </p:spPr>
      </p:pic>
      <p:sp>
        <p:nvSpPr>
          <p:cNvPr id="16" name="text-29"/>
          <p:cNvSpPr txBox="1"/>
          <p:nvPr/>
        </p:nvSpPr>
        <p:spPr>
          <a:xfrm>
            <a:off x="6858000" y="1344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Inventory control</a:t>
            </a:r>
            <a:endParaRPr lang="en-US" sz="1500" dirty="0"/>
          </a:p>
        </p:txBody>
      </p:sp>
      <p:sp>
        <p:nvSpPr>
          <p:cNvPr id="17" name="text-30"/>
          <p:cNvSpPr txBox="1"/>
          <p:nvPr/>
        </p:nvSpPr>
        <p:spPr>
          <a:xfrm>
            <a:off x="621792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Quarantine, release, discard; a daily CronJob expires stale stock</a:t>
            </a:r>
            <a:endParaRPr lang="en-US" sz="1200" dirty="0"/>
          </a:p>
        </p:txBody>
      </p:sp>
      <p:sp>
        <p:nvSpPr>
          <p:cNvPr id="18" name="card-31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32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3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183941"/>
            <a:ext cx="261518" cy="261518"/>
          </a:xfrm>
          <a:prstGeom prst="rect">
            <a:avLst/>
          </a:prstGeom>
        </p:spPr>
      </p:pic>
      <p:sp>
        <p:nvSpPr>
          <p:cNvPr id="21" name="text-34"/>
          <p:cNvSpPr txBox="1"/>
          <p:nvPr/>
        </p:nvSpPr>
        <p:spPr>
          <a:xfrm>
            <a:off x="1280160" y="31272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Hospital requests</a:t>
            </a:r>
            <a:endParaRPr lang="en-US" sz="1500" dirty="0"/>
          </a:p>
        </p:txBody>
      </p:sp>
      <p:sp>
        <p:nvSpPr>
          <p:cNvPr id="22" name="text-35"/>
          <p:cNvSpPr txBox="1"/>
          <p:nvPr/>
        </p:nvSpPr>
        <p:spPr>
          <a:xfrm>
            <a:off x="64008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Queue ordered by urgency (critical → routine), then by age</a:t>
            </a:r>
            <a:endParaRPr lang="en-US" sz="1200" dirty="0"/>
          </a:p>
        </p:txBody>
      </p:sp>
      <p:sp>
        <p:nvSpPr>
          <p:cNvPr id="23" name="card-36"/>
          <p:cNvSpPr/>
          <p:nvPr/>
        </p:nvSpPr>
        <p:spPr>
          <a:xfrm>
            <a:off x="324612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37"/>
          <p:cNvSpPr/>
          <p:nvPr/>
        </p:nvSpPr>
        <p:spPr>
          <a:xfrm>
            <a:off x="342900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3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701" y="3183941"/>
            <a:ext cx="261518" cy="261518"/>
          </a:xfrm>
          <a:prstGeom prst="rect">
            <a:avLst/>
          </a:prstGeom>
        </p:spPr>
      </p:pic>
      <p:sp>
        <p:nvSpPr>
          <p:cNvPr id="26" name="text-39"/>
          <p:cNvSpPr txBox="1"/>
          <p:nvPr/>
        </p:nvSpPr>
        <p:spPr>
          <a:xfrm>
            <a:off x="4069080" y="31272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fulfilment</a:t>
            </a:r>
            <a:endParaRPr lang="en-US" sz="1500" dirty="0"/>
          </a:p>
        </p:txBody>
      </p:sp>
      <p:sp>
        <p:nvSpPr>
          <p:cNvPr id="27" name="text-40"/>
          <p:cNvSpPr txBox="1"/>
          <p:nvPr/>
        </p:nvSpPr>
        <p:spPr>
          <a:xfrm>
            <a:off x="342900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Compatible group first, O- last, first-expiry-first-out, partial issue</a:t>
            </a:r>
            <a:endParaRPr lang="en-US" sz="1200" dirty="0"/>
          </a:p>
        </p:txBody>
      </p:sp>
      <p:sp>
        <p:nvSpPr>
          <p:cNvPr id="28" name="card-41"/>
          <p:cNvSpPr/>
          <p:nvPr/>
        </p:nvSpPr>
        <p:spPr>
          <a:xfrm>
            <a:off x="603504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42"/>
          <p:cNvSpPr/>
          <p:nvPr/>
        </p:nvSpPr>
        <p:spPr>
          <a:xfrm>
            <a:off x="621792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4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183941"/>
            <a:ext cx="261518" cy="261518"/>
          </a:xfrm>
          <a:prstGeom prst="rect">
            <a:avLst/>
          </a:prstGeom>
        </p:spPr>
      </p:pic>
      <p:sp>
        <p:nvSpPr>
          <p:cNvPr id="31" name="text-44"/>
          <p:cNvSpPr txBox="1"/>
          <p:nvPr/>
        </p:nvSpPr>
        <p:spPr>
          <a:xfrm>
            <a:off x="6858000" y="31272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Ops endpoints</a:t>
            </a:r>
            <a:endParaRPr lang="en-US" sz="1500" dirty="0"/>
          </a:p>
        </p:txBody>
      </p:sp>
      <p:sp>
        <p:nvSpPr>
          <p:cNvPr id="32" name="text-45"/>
          <p:cNvSpPr txBox="1"/>
          <p:nvPr/>
        </p:nvSpPr>
        <p:spPr>
          <a:xfrm>
            <a:off x="621792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/health, /ready (DB check), /metrics and build SHA via /api/meta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3" name="card-46"/>
          <p:cNvSpPr/>
          <p:nvPr/>
        </p:nvSpPr>
        <p:spPr>
          <a:xfrm>
            <a:off x="457200" y="1097280"/>
            <a:ext cx="1920240" cy="3429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47"/>
          <p:cNvSpPr txBox="1"/>
          <p:nvPr/>
        </p:nvSpPr>
        <p:spPr>
          <a:xfrm>
            <a:off x="64008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Application</a:t>
            </a:r>
            <a:endParaRPr lang="en-US" sz="1500" dirty="0"/>
          </a:p>
        </p:txBody>
      </p:sp>
      <p:pic>
        <p:nvPicPr>
          <p:cNvPr id="5" name="stack-icon-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6" name="text-49"/>
          <p:cNvSpPr txBox="1"/>
          <p:nvPr/>
        </p:nvSpPr>
        <p:spPr>
          <a:xfrm>
            <a:off x="109728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React 19 + Vite</a:t>
            </a:r>
            <a:endParaRPr lang="en-US" sz="1200" dirty="0"/>
          </a:p>
        </p:txBody>
      </p:sp>
      <p:pic>
        <p:nvPicPr>
          <p:cNvPr id="7" name="stack-icon-5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365760" cy="365760"/>
          </a:xfrm>
          <a:prstGeom prst="rect">
            <a:avLst/>
          </a:prstGeom>
        </p:spPr>
      </p:pic>
      <p:sp>
        <p:nvSpPr>
          <p:cNvPr id="8" name="text-51"/>
          <p:cNvSpPr txBox="1"/>
          <p:nvPr/>
        </p:nvSpPr>
        <p:spPr>
          <a:xfrm>
            <a:off x="109728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FastAPI · Python 3.13</a:t>
            </a:r>
            <a:endParaRPr lang="en-US" sz="1200" dirty="0"/>
          </a:p>
        </p:txBody>
      </p:sp>
      <p:pic>
        <p:nvPicPr>
          <p:cNvPr id="9" name="stack-icon-5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0" name="text-53"/>
          <p:cNvSpPr txBox="1"/>
          <p:nvPr/>
        </p:nvSpPr>
        <p:spPr>
          <a:xfrm>
            <a:off x="109728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PostgreSQL 17 + Alembic</a:t>
            </a:r>
            <a:endParaRPr lang="en-US" sz="1200" dirty="0"/>
          </a:p>
        </p:txBody>
      </p:sp>
      <p:pic>
        <p:nvPicPr>
          <p:cNvPr id="11" name="stack-icon-5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365760" cy="365760"/>
          </a:xfrm>
          <a:prstGeom prst="rect">
            <a:avLst/>
          </a:prstGeom>
        </p:spPr>
      </p:pic>
      <p:sp>
        <p:nvSpPr>
          <p:cNvPr id="12" name="text-55"/>
          <p:cNvSpPr txBox="1"/>
          <p:nvPr/>
        </p:nvSpPr>
        <p:spPr>
          <a:xfrm>
            <a:off x="109728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pytest + ruff</a:t>
            </a:r>
            <a:endParaRPr lang="en-US" sz="1200" dirty="0"/>
          </a:p>
        </p:txBody>
      </p:sp>
      <p:sp>
        <p:nvSpPr>
          <p:cNvPr id="13" name="card-56"/>
          <p:cNvSpPr/>
          <p:nvPr/>
        </p:nvSpPr>
        <p:spPr>
          <a:xfrm>
            <a:off x="2560320" y="1097280"/>
            <a:ext cx="1920240" cy="3429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57"/>
          <p:cNvSpPr txBox="1"/>
          <p:nvPr/>
        </p:nvSpPr>
        <p:spPr>
          <a:xfrm>
            <a:off x="274320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Delivery</a:t>
            </a:r>
            <a:endParaRPr lang="en-US" sz="1500" dirty="0"/>
          </a:p>
        </p:txBody>
      </p:sp>
      <p:pic>
        <p:nvPicPr>
          <p:cNvPr id="15" name="stack-icon-5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783080"/>
            <a:ext cx="365760" cy="365760"/>
          </a:xfrm>
          <a:prstGeom prst="rect">
            <a:avLst/>
          </a:prstGeom>
        </p:spPr>
      </p:pic>
      <p:sp>
        <p:nvSpPr>
          <p:cNvPr id="16" name="text-59"/>
          <p:cNvSpPr txBox="1"/>
          <p:nvPr/>
        </p:nvSpPr>
        <p:spPr>
          <a:xfrm>
            <a:off x="320040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 multi-stage</a:t>
            </a:r>
            <a:endParaRPr lang="en-US" sz="1200" dirty="0"/>
          </a:p>
        </p:txBody>
      </p:sp>
      <p:pic>
        <p:nvPicPr>
          <p:cNvPr id="17" name="stack-icon-6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468880"/>
            <a:ext cx="365760" cy="365760"/>
          </a:xfrm>
          <a:prstGeom prst="rect">
            <a:avLst/>
          </a:prstGeom>
        </p:spPr>
      </p:pic>
      <p:sp>
        <p:nvSpPr>
          <p:cNvPr id="18" name="text-61"/>
          <p:cNvSpPr txBox="1"/>
          <p:nvPr/>
        </p:nvSpPr>
        <p:spPr>
          <a:xfrm>
            <a:off x="320040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GitHub Actions</a:t>
            </a:r>
            <a:endParaRPr lang="en-US" sz="1200" dirty="0"/>
          </a:p>
        </p:txBody>
      </p:sp>
      <p:pic>
        <p:nvPicPr>
          <p:cNvPr id="19" name="stack-icon-6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154680"/>
            <a:ext cx="365760" cy="365760"/>
          </a:xfrm>
          <a:prstGeom prst="rect">
            <a:avLst/>
          </a:prstGeom>
        </p:spPr>
      </p:pic>
      <p:sp>
        <p:nvSpPr>
          <p:cNvPr id="20" name="text-63"/>
          <p:cNvSpPr txBox="1"/>
          <p:nvPr/>
        </p:nvSpPr>
        <p:spPr>
          <a:xfrm>
            <a:off x="32004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GHCR registry</a:t>
            </a:r>
            <a:endParaRPr lang="en-US" sz="1200" dirty="0"/>
          </a:p>
        </p:txBody>
      </p:sp>
      <p:pic>
        <p:nvPicPr>
          <p:cNvPr id="21" name="stack-icon-6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3840480"/>
            <a:ext cx="365760" cy="365760"/>
          </a:xfrm>
          <a:prstGeom prst="rect">
            <a:avLst/>
          </a:prstGeom>
        </p:spPr>
      </p:pic>
      <p:sp>
        <p:nvSpPr>
          <p:cNvPr id="22" name="text-65"/>
          <p:cNvSpPr txBox="1"/>
          <p:nvPr/>
        </p:nvSpPr>
        <p:spPr>
          <a:xfrm>
            <a:off x="320040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Trivy + SBOM</a:t>
            </a:r>
            <a:endParaRPr lang="en-US" sz="1200" dirty="0"/>
          </a:p>
        </p:txBody>
      </p:sp>
      <p:sp>
        <p:nvSpPr>
          <p:cNvPr id="23" name="card-66"/>
          <p:cNvSpPr/>
          <p:nvPr/>
        </p:nvSpPr>
        <p:spPr>
          <a:xfrm>
            <a:off x="4663440" y="1097280"/>
            <a:ext cx="1920240" cy="3429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-67"/>
          <p:cNvSpPr txBox="1"/>
          <p:nvPr/>
        </p:nvSpPr>
        <p:spPr>
          <a:xfrm>
            <a:off x="484632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Platform</a:t>
            </a:r>
            <a:endParaRPr lang="en-US" sz="1500" dirty="0"/>
          </a:p>
        </p:txBody>
      </p:sp>
      <p:pic>
        <p:nvPicPr>
          <p:cNvPr id="25" name="stack-icon-6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1783080"/>
            <a:ext cx="365760" cy="365760"/>
          </a:xfrm>
          <a:prstGeom prst="rect">
            <a:avLst/>
          </a:prstGeom>
        </p:spPr>
      </p:pic>
      <p:sp>
        <p:nvSpPr>
          <p:cNvPr id="26" name="text-69"/>
          <p:cNvSpPr txBox="1"/>
          <p:nvPr/>
        </p:nvSpPr>
        <p:spPr>
          <a:xfrm>
            <a:off x="530352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Terraform</a:t>
            </a:r>
            <a:endParaRPr lang="en-US" sz="1200" dirty="0"/>
          </a:p>
        </p:txBody>
      </p:sp>
      <p:pic>
        <p:nvPicPr>
          <p:cNvPr id="27" name="stack-icon-7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2468880"/>
            <a:ext cx="365760" cy="365760"/>
          </a:xfrm>
          <a:prstGeom prst="rect">
            <a:avLst/>
          </a:prstGeom>
        </p:spPr>
      </p:pic>
      <p:sp>
        <p:nvSpPr>
          <p:cNvPr id="28" name="text-71"/>
          <p:cNvSpPr txBox="1"/>
          <p:nvPr/>
        </p:nvSpPr>
        <p:spPr>
          <a:xfrm>
            <a:off x="530352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AWS VPC + EKS</a:t>
            </a:r>
            <a:endParaRPr lang="en-US" sz="1200" dirty="0"/>
          </a:p>
        </p:txBody>
      </p:sp>
      <p:pic>
        <p:nvPicPr>
          <p:cNvPr id="29" name="stack-icon-7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3154680"/>
            <a:ext cx="365760" cy="365760"/>
          </a:xfrm>
          <a:prstGeom prst="rect">
            <a:avLst/>
          </a:prstGeom>
        </p:spPr>
      </p:pic>
      <p:sp>
        <p:nvSpPr>
          <p:cNvPr id="30" name="text-73"/>
          <p:cNvSpPr txBox="1"/>
          <p:nvPr/>
        </p:nvSpPr>
        <p:spPr>
          <a:xfrm>
            <a:off x="530352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Helm 3</a:t>
            </a:r>
            <a:endParaRPr lang="en-US" sz="1200" dirty="0"/>
          </a:p>
        </p:txBody>
      </p:sp>
      <p:pic>
        <p:nvPicPr>
          <p:cNvPr id="31" name="stack-icon-74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3840480"/>
            <a:ext cx="365760" cy="365760"/>
          </a:xfrm>
          <a:prstGeom prst="rect">
            <a:avLst/>
          </a:prstGeom>
        </p:spPr>
      </p:pic>
      <p:sp>
        <p:nvSpPr>
          <p:cNvPr id="32" name="text-75"/>
          <p:cNvSpPr txBox="1"/>
          <p:nvPr/>
        </p:nvSpPr>
        <p:spPr>
          <a:xfrm>
            <a:off x="530352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Argo CD · Traefik</a:t>
            </a:r>
            <a:endParaRPr lang="en-US" sz="1200" dirty="0"/>
          </a:p>
        </p:txBody>
      </p:sp>
      <p:sp>
        <p:nvSpPr>
          <p:cNvPr id="33" name="card-76"/>
          <p:cNvSpPr/>
          <p:nvPr/>
        </p:nvSpPr>
        <p:spPr>
          <a:xfrm>
            <a:off x="6766560" y="1097280"/>
            <a:ext cx="1920240" cy="3429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-77"/>
          <p:cNvSpPr txBox="1"/>
          <p:nvPr/>
        </p:nvSpPr>
        <p:spPr>
          <a:xfrm>
            <a:off x="694944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Observability</a:t>
            </a:r>
            <a:endParaRPr lang="en-US" sz="1500" dirty="0"/>
          </a:p>
        </p:txBody>
      </p:sp>
      <p:pic>
        <p:nvPicPr>
          <p:cNvPr id="35" name="stack-icon-7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1783080"/>
            <a:ext cx="365760" cy="365760"/>
          </a:xfrm>
          <a:prstGeom prst="rect">
            <a:avLst/>
          </a:prstGeom>
        </p:spPr>
      </p:pic>
      <p:sp>
        <p:nvSpPr>
          <p:cNvPr id="36" name="text-79"/>
          <p:cNvSpPr txBox="1"/>
          <p:nvPr/>
        </p:nvSpPr>
        <p:spPr>
          <a:xfrm>
            <a:off x="740664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Prometheus</a:t>
            </a:r>
            <a:endParaRPr lang="en-US" sz="1200" dirty="0"/>
          </a:p>
        </p:txBody>
      </p:sp>
      <p:pic>
        <p:nvPicPr>
          <p:cNvPr id="37" name="stack-icon-8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9440" y="2468880"/>
            <a:ext cx="365760" cy="365760"/>
          </a:xfrm>
          <a:prstGeom prst="rect">
            <a:avLst/>
          </a:prstGeom>
        </p:spPr>
      </p:pic>
      <p:sp>
        <p:nvSpPr>
          <p:cNvPr id="38" name="text-81"/>
          <p:cNvSpPr txBox="1"/>
          <p:nvPr/>
        </p:nvSpPr>
        <p:spPr>
          <a:xfrm>
            <a:off x="74066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Grafana</a:t>
            </a:r>
            <a:endParaRPr lang="en-US" sz="1200" dirty="0"/>
          </a:p>
        </p:txBody>
      </p:sp>
      <p:pic>
        <p:nvPicPr>
          <p:cNvPr id="39" name="stack-icon-82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9440" y="3154680"/>
            <a:ext cx="365760" cy="365760"/>
          </a:xfrm>
          <a:prstGeom prst="rect">
            <a:avLst/>
          </a:prstGeom>
        </p:spPr>
      </p:pic>
      <p:sp>
        <p:nvSpPr>
          <p:cNvPr id="40" name="text-83"/>
          <p:cNvSpPr txBox="1"/>
          <p:nvPr/>
        </p:nvSpPr>
        <p:spPr>
          <a:xfrm>
            <a:off x="740664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Alertmanager rules</a:t>
            </a:r>
            <a:endParaRPr lang="en-US" sz="1200" dirty="0"/>
          </a:p>
        </p:txBody>
      </p:sp>
      <p:pic>
        <p:nvPicPr>
          <p:cNvPr id="41" name="stack-icon-8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9440" y="3840480"/>
            <a:ext cx="365760" cy="365760"/>
          </a:xfrm>
          <a:prstGeom prst="rect">
            <a:avLst/>
          </a:prstGeom>
        </p:spPr>
      </p:pic>
      <p:sp>
        <p:nvSpPr>
          <p:cNvPr id="42" name="text-85"/>
          <p:cNvSpPr txBox="1"/>
          <p:nvPr/>
        </p:nvSpPr>
        <p:spPr>
          <a:xfrm>
            <a:off x="740664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Dependabot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Runtime architecture on Amazon EKS</a:t>
            </a:r>
            <a:endParaRPr lang="en-US" sz="2800" dirty="0"/>
          </a:p>
        </p:txBody>
      </p:sp>
      <p:sp>
        <p:nvSpPr>
          <p:cNvPr id="3" name="cluster-boundary"/>
          <p:cNvSpPr/>
          <p:nvPr/>
        </p:nvSpPr>
        <p:spPr>
          <a:xfrm>
            <a:off x="2148840" y="1051560"/>
            <a:ext cx="6537960" cy="3520440"/>
          </a:xfrm>
          <a:prstGeom prst="roundRect">
            <a:avLst>
              <a:gd name="adj" fmla="val 155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" name="text-86"/>
          <p:cNvSpPr txBox="1"/>
          <p:nvPr/>
        </p:nvSpPr>
        <p:spPr>
          <a:xfrm>
            <a:off x="228600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EKS cluster · namespace bloodbridge</a:t>
            </a:r>
            <a:endParaRPr lang="en-US" sz="1000" dirty="0"/>
          </a:p>
        </p:txBody>
      </p:sp>
      <p:sp>
        <p:nvSpPr>
          <p:cNvPr id="5" name="node-87"/>
          <p:cNvSpPr/>
          <p:nvPr/>
        </p:nvSpPr>
        <p:spPr>
          <a:xfrm>
            <a:off x="457200" y="1417320"/>
            <a:ext cx="137160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node-label-88"/>
          <p:cNvSpPr txBox="1"/>
          <p:nvPr/>
        </p:nvSpPr>
        <p:spPr>
          <a:xfrm>
            <a:off x="45720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browser</a:t>
            </a:r>
            <a:endParaRPr lang="en-US" sz="1200" dirty="0"/>
          </a:p>
        </p:txBody>
      </p:sp>
      <p:sp>
        <p:nvSpPr>
          <p:cNvPr id="7" name="node-89"/>
          <p:cNvSpPr/>
          <p:nvPr/>
        </p:nvSpPr>
        <p:spPr>
          <a:xfrm>
            <a:off x="457200" y="2514600"/>
            <a:ext cx="1371600" cy="640080"/>
          </a:xfrm>
          <a:prstGeom prst="roundRect">
            <a:avLst>
              <a:gd name="adj" fmla="val 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node-label-90"/>
          <p:cNvSpPr txBox="1"/>
          <p:nvPr/>
        </p:nvSpPr>
        <p:spPr>
          <a:xfrm>
            <a:off x="457200" y="2514600"/>
            <a:ext cx="13716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AWS LB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public subnets</a:t>
            </a:r>
            <a:endParaRPr lang="en-US" sz="1200" dirty="0"/>
          </a:p>
        </p:txBody>
      </p:sp>
      <p:sp>
        <p:nvSpPr>
          <p:cNvPr id="9" name="arrow-91"/>
          <p:cNvSpPr/>
          <p:nvPr/>
        </p:nvSpPr>
        <p:spPr>
          <a:xfrm>
            <a:off x="1143000" y="2057400"/>
            <a:ext cx="914" cy="4572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node-92"/>
          <p:cNvSpPr/>
          <p:nvPr/>
        </p:nvSpPr>
        <p:spPr>
          <a:xfrm>
            <a:off x="2377440" y="2514600"/>
            <a:ext cx="141732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ode-label-93"/>
          <p:cNvSpPr txBox="1"/>
          <p:nvPr/>
        </p:nvSpPr>
        <p:spPr>
          <a:xfrm>
            <a:off x="2377440" y="2514600"/>
            <a:ext cx="1417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Traefik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Ingress</a:t>
            </a:r>
            <a:endParaRPr lang="en-US" sz="1200" dirty="0"/>
          </a:p>
        </p:txBody>
      </p:sp>
      <p:sp>
        <p:nvSpPr>
          <p:cNvPr id="12" name="arrow-94"/>
          <p:cNvSpPr/>
          <p:nvPr/>
        </p:nvSpPr>
        <p:spPr>
          <a:xfrm>
            <a:off x="1828800" y="2834640"/>
            <a:ext cx="54864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node-95"/>
          <p:cNvSpPr/>
          <p:nvPr/>
        </p:nvSpPr>
        <p:spPr>
          <a:xfrm>
            <a:off x="4343400" y="1463040"/>
            <a:ext cx="1828800" cy="6858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ode-label-96"/>
          <p:cNvSpPr txBox="1"/>
          <p:nvPr/>
        </p:nvSpPr>
        <p:spPr>
          <a:xfrm>
            <a:off x="434340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Frontend ×2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React + Nginx</a:t>
            </a:r>
            <a:endParaRPr lang="en-US" sz="1200" dirty="0"/>
          </a:p>
        </p:txBody>
      </p:sp>
      <p:sp>
        <p:nvSpPr>
          <p:cNvPr id="15" name="node-97"/>
          <p:cNvSpPr/>
          <p:nvPr/>
        </p:nvSpPr>
        <p:spPr>
          <a:xfrm>
            <a:off x="4343400" y="2514600"/>
            <a:ext cx="1828800" cy="6858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ode-label-98"/>
          <p:cNvSpPr txBox="1"/>
          <p:nvPr/>
        </p:nvSpPr>
        <p:spPr>
          <a:xfrm>
            <a:off x="4343400" y="2514600"/>
            <a:ext cx="18288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Backend · HPA 2→6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FastAPI</a:t>
            </a:r>
            <a:endParaRPr lang="en-US" sz="1200" dirty="0"/>
          </a:p>
        </p:txBody>
      </p:sp>
      <p:sp>
        <p:nvSpPr>
          <p:cNvPr id="17" name="arrow-99"/>
          <p:cNvSpPr/>
          <p:nvPr/>
        </p:nvSpPr>
        <p:spPr>
          <a:xfrm flipV="1">
            <a:off x="3794760" y="1920240"/>
            <a:ext cx="548640" cy="7772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-100"/>
          <p:cNvSpPr txBox="1"/>
          <p:nvPr/>
        </p:nvSpPr>
        <p:spPr>
          <a:xfrm>
            <a:off x="3931920" y="2057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/</a:t>
            </a:r>
            <a:endParaRPr lang="en-US" sz="1100" dirty="0"/>
          </a:p>
        </p:txBody>
      </p:sp>
      <p:sp>
        <p:nvSpPr>
          <p:cNvPr id="19" name="arrow-101"/>
          <p:cNvSpPr/>
          <p:nvPr/>
        </p:nvSpPr>
        <p:spPr>
          <a:xfrm>
            <a:off x="3794760" y="2834640"/>
            <a:ext cx="54864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-102"/>
          <p:cNvSpPr txBox="1"/>
          <p:nvPr/>
        </p:nvSpPr>
        <p:spPr>
          <a:xfrm>
            <a:off x="3858768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/api</a:t>
            </a:r>
            <a:endParaRPr lang="en-US" sz="1100" dirty="0"/>
          </a:p>
        </p:txBody>
      </p:sp>
      <p:sp>
        <p:nvSpPr>
          <p:cNvPr id="21" name="node-103"/>
          <p:cNvSpPr/>
          <p:nvPr/>
        </p:nvSpPr>
        <p:spPr>
          <a:xfrm>
            <a:off x="6720840" y="2514600"/>
            <a:ext cx="1783080" cy="6858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node-label-104"/>
          <p:cNvSpPr txBox="1"/>
          <p:nvPr/>
        </p:nvSpPr>
        <p:spPr>
          <a:xfrm>
            <a:off x="6720840" y="2514600"/>
            <a:ext cx="1783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StatefulSet · EBS gp3</a:t>
            </a:r>
            <a:endParaRPr lang="en-US" sz="1200" dirty="0"/>
          </a:p>
        </p:txBody>
      </p:sp>
      <p:sp>
        <p:nvSpPr>
          <p:cNvPr id="23" name="arrow-105"/>
          <p:cNvSpPr/>
          <p:nvPr/>
        </p:nvSpPr>
        <p:spPr>
          <a:xfrm>
            <a:off x="6172200" y="2834640"/>
            <a:ext cx="54864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node-106"/>
          <p:cNvSpPr/>
          <p:nvPr/>
        </p:nvSpPr>
        <p:spPr>
          <a:xfrm>
            <a:off x="4343400" y="3657600"/>
            <a:ext cx="1828800" cy="6858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node-label-107"/>
          <p:cNvSpPr txBox="1"/>
          <p:nvPr/>
        </p:nvSpPr>
        <p:spPr>
          <a:xfrm>
            <a:off x="4343400" y="3657600"/>
            <a:ext cx="18288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Prometheus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ServiceMonitor · alerts</a:t>
            </a:r>
            <a:endParaRPr lang="en-US" sz="1200" dirty="0"/>
          </a:p>
        </p:txBody>
      </p:sp>
      <p:sp>
        <p:nvSpPr>
          <p:cNvPr id="26" name="arrow-108"/>
          <p:cNvSpPr/>
          <p:nvPr/>
        </p:nvSpPr>
        <p:spPr>
          <a:xfrm flipV="1">
            <a:off x="5257800" y="3200400"/>
            <a:ext cx="914" cy="4572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text-109"/>
          <p:cNvSpPr txBox="1"/>
          <p:nvPr/>
        </p:nvSpPr>
        <p:spPr>
          <a:xfrm>
            <a:off x="5349240" y="3291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/metrics</a:t>
            </a:r>
            <a:endParaRPr lang="en-US" sz="1000" dirty="0"/>
          </a:p>
        </p:txBody>
      </p:sp>
      <p:sp>
        <p:nvSpPr>
          <p:cNvPr id="28" name="node-110"/>
          <p:cNvSpPr/>
          <p:nvPr/>
        </p:nvSpPr>
        <p:spPr>
          <a:xfrm>
            <a:off x="6720840" y="3657600"/>
            <a:ext cx="1783080" cy="6858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node-label-111"/>
          <p:cNvSpPr txBox="1"/>
          <p:nvPr/>
        </p:nvSpPr>
        <p:spPr>
          <a:xfrm>
            <a:off x="6720840" y="3657600"/>
            <a:ext cx="1783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Grafana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dashboard + alerts</a:t>
            </a:r>
            <a:endParaRPr lang="en-US" sz="1200" dirty="0"/>
          </a:p>
        </p:txBody>
      </p:sp>
      <p:sp>
        <p:nvSpPr>
          <p:cNvPr id="30" name="arrow-112"/>
          <p:cNvSpPr/>
          <p:nvPr/>
        </p:nvSpPr>
        <p:spPr>
          <a:xfrm>
            <a:off x="6172200" y="4000500"/>
            <a:ext cx="54864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node-113"/>
          <p:cNvSpPr/>
          <p:nvPr/>
        </p:nvSpPr>
        <p:spPr>
          <a:xfrm>
            <a:off x="6720840" y="1463040"/>
            <a:ext cx="1783080" cy="6858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node-label-114"/>
          <p:cNvSpPr txBox="1"/>
          <p:nvPr/>
        </p:nvSpPr>
        <p:spPr>
          <a:xfrm>
            <a:off x="6720840" y="1463040"/>
            <a:ext cx="1783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Argo CD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syncs Helm chart</a:t>
            </a:r>
            <a:endParaRPr lang="en-US" sz="1200" dirty="0"/>
          </a:p>
        </p:txBody>
      </p:sp>
      <p:sp>
        <p:nvSpPr>
          <p:cNvPr id="33" name="node-115"/>
          <p:cNvSpPr/>
          <p:nvPr/>
        </p:nvSpPr>
        <p:spPr>
          <a:xfrm>
            <a:off x="2377440" y="3657600"/>
            <a:ext cx="1417320" cy="6858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node-label-116"/>
          <p:cNvSpPr txBox="1"/>
          <p:nvPr/>
        </p:nvSpPr>
        <p:spPr>
          <a:xfrm>
            <a:off x="2377440" y="3657600"/>
            <a:ext cx="1417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CronJob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daily expiry sweep</a:t>
            </a:r>
            <a:endParaRPr lang="en-US" sz="1200" dirty="0"/>
          </a:p>
        </p:txBody>
      </p:sp>
      <p:sp>
        <p:nvSpPr>
          <p:cNvPr id="35" name="arrow-117"/>
          <p:cNvSpPr/>
          <p:nvPr/>
        </p:nvSpPr>
        <p:spPr>
          <a:xfrm flipV="1">
            <a:off x="3794760" y="3108960"/>
            <a:ext cx="548640" cy="7315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CI/CD pipeline: every push to main</a:t>
            </a:r>
            <a:endParaRPr lang="en-US" sz="2800" dirty="0"/>
          </a:p>
        </p:txBody>
      </p:sp>
      <p:sp>
        <p:nvSpPr>
          <p:cNvPr id="3" name="card-118"/>
          <p:cNvSpPr/>
          <p:nvPr/>
        </p:nvSpPr>
        <p:spPr>
          <a:xfrm>
            <a:off x="457200" y="1143000"/>
            <a:ext cx="1499616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19"/>
          <p:cNvSpPr/>
          <p:nvPr/>
        </p:nvSpPr>
        <p:spPr>
          <a:xfrm>
            <a:off x="932688" y="12801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-1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411834"/>
            <a:ext cx="285293" cy="285293"/>
          </a:xfrm>
          <a:prstGeom prst="rect">
            <a:avLst/>
          </a:prstGeom>
        </p:spPr>
      </p:pic>
      <p:sp>
        <p:nvSpPr>
          <p:cNvPr id="6" name="text-121"/>
          <p:cNvSpPr txBox="1"/>
          <p:nvPr/>
        </p:nvSpPr>
        <p:spPr>
          <a:xfrm>
            <a:off x="548640" y="1920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</a:t>
            </a:r>
            <a:endParaRPr lang="en-US" sz="1400" dirty="0"/>
          </a:p>
        </p:txBody>
      </p:sp>
      <p:sp>
        <p:nvSpPr>
          <p:cNvPr id="7" name="text-122"/>
          <p:cNvSpPr txBox="1"/>
          <p:nvPr/>
        </p:nvSpPr>
        <p:spPr>
          <a:xfrm>
            <a:off x="548640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ruff · 40 pytest tests · migrations on real Postgres</a:t>
            </a:r>
            <a:endParaRPr lang="en-US" sz="1100" dirty="0"/>
          </a:p>
        </p:txBody>
      </p:sp>
      <p:sp>
        <p:nvSpPr>
          <p:cNvPr id="8" name="arrow-123"/>
          <p:cNvSpPr/>
          <p:nvPr/>
        </p:nvSpPr>
        <p:spPr>
          <a:xfrm>
            <a:off x="1956816" y="2148840"/>
            <a:ext cx="18288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card-124"/>
          <p:cNvSpPr/>
          <p:nvPr/>
        </p:nvSpPr>
        <p:spPr>
          <a:xfrm>
            <a:off x="2139696" y="1143000"/>
            <a:ext cx="1499616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bg-125"/>
          <p:cNvSpPr/>
          <p:nvPr/>
        </p:nvSpPr>
        <p:spPr>
          <a:xfrm>
            <a:off x="2615184" y="12801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-1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58" y="1411834"/>
            <a:ext cx="285293" cy="285293"/>
          </a:xfrm>
          <a:prstGeom prst="rect">
            <a:avLst/>
          </a:prstGeom>
        </p:spPr>
      </p:pic>
      <p:sp>
        <p:nvSpPr>
          <p:cNvPr id="12" name="text-127"/>
          <p:cNvSpPr txBox="1"/>
          <p:nvPr/>
        </p:nvSpPr>
        <p:spPr>
          <a:xfrm>
            <a:off x="2231136" y="1920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Source scan</a:t>
            </a:r>
            <a:endParaRPr lang="en-US" sz="1400" dirty="0"/>
          </a:p>
        </p:txBody>
      </p:sp>
      <p:sp>
        <p:nvSpPr>
          <p:cNvPr id="13" name="text-128"/>
          <p:cNvSpPr txBox="1"/>
          <p:nvPr/>
        </p:nvSpPr>
        <p:spPr>
          <a:xfrm>
            <a:off x="2231136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Trivy: secrets, dependency CVEs, IaC config</a:t>
            </a:r>
            <a:endParaRPr lang="en-US" sz="1100" dirty="0"/>
          </a:p>
        </p:txBody>
      </p:sp>
      <p:sp>
        <p:nvSpPr>
          <p:cNvPr id="14" name="arrow-129"/>
          <p:cNvSpPr/>
          <p:nvPr/>
        </p:nvSpPr>
        <p:spPr>
          <a:xfrm>
            <a:off x="3639312" y="2148840"/>
            <a:ext cx="18288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card-130"/>
          <p:cNvSpPr/>
          <p:nvPr/>
        </p:nvSpPr>
        <p:spPr>
          <a:xfrm>
            <a:off x="3822192" y="1143000"/>
            <a:ext cx="1499616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131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-1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54" y="1411834"/>
            <a:ext cx="285293" cy="285293"/>
          </a:xfrm>
          <a:prstGeom prst="rect">
            <a:avLst/>
          </a:prstGeom>
        </p:spPr>
      </p:pic>
      <p:sp>
        <p:nvSpPr>
          <p:cNvPr id="18" name="text-133"/>
          <p:cNvSpPr txBox="1"/>
          <p:nvPr/>
        </p:nvSpPr>
        <p:spPr>
          <a:xfrm>
            <a:off x="3913632" y="1920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Build</a:t>
            </a:r>
            <a:endParaRPr lang="en-US" sz="1400" dirty="0"/>
          </a:p>
        </p:txBody>
      </p:sp>
      <p:sp>
        <p:nvSpPr>
          <p:cNvPr id="19" name="text-134"/>
          <p:cNvSpPr txBox="1"/>
          <p:nvPr/>
        </p:nvSpPr>
        <p:spPr>
          <a:xfrm>
            <a:off x="3913632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Buildx images tagged with the commit SHA</a:t>
            </a:r>
            <a:endParaRPr lang="en-US" sz="1100" dirty="0"/>
          </a:p>
        </p:txBody>
      </p:sp>
      <p:sp>
        <p:nvSpPr>
          <p:cNvPr id="20" name="arrow-135"/>
          <p:cNvSpPr/>
          <p:nvPr/>
        </p:nvSpPr>
        <p:spPr>
          <a:xfrm>
            <a:off x="5321808" y="2148840"/>
            <a:ext cx="18288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card-136"/>
          <p:cNvSpPr/>
          <p:nvPr/>
        </p:nvSpPr>
        <p:spPr>
          <a:xfrm>
            <a:off x="5504688" y="1143000"/>
            <a:ext cx="1499616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-bg-137"/>
          <p:cNvSpPr/>
          <p:nvPr/>
        </p:nvSpPr>
        <p:spPr>
          <a:xfrm>
            <a:off x="5980176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-13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850" y="1411834"/>
            <a:ext cx="285293" cy="285293"/>
          </a:xfrm>
          <a:prstGeom prst="rect">
            <a:avLst/>
          </a:prstGeom>
        </p:spPr>
      </p:pic>
      <p:sp>
        <p:nvSpPr>
          <p:cNvPr id="24" name="text-139"/>
          <p:cNvSpPr txBox="1"/>
          <p:nvPr/>
        </p:nvSpPr>
        <p:spPr>
          <a:xfrm>
            <a:off x="5596128" y="1920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Image scan</a:t>
            </a:r>
            <a:endParaRPr lang="en-US" sz="1400" dirty="0"/>
          </a:p>
        </p:txBody>
      </p:sp>
      <p:sp>
        <p:nvSpPr>
          <p:cNvPr id="25" name="text-140"/>
          <p:cNvSpPr txBox="1"/>
          <p:nvPr/>
        </p:nvSpPr>
        <p:spPr>
          <a:xfrm>
            <a:off x="5596128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Trivy blocks HIGH/CRITICAL · SBOM</a:t>
            </a:r>
            <a:endParaRPr lang="en-US" sz="1100" dirty="0"/>
          </a:p>
        </p:txBody>
      </p:sp>
      <p:sp>
        <p:nvSpPr>
          <p:cNvPr id="26" name="arrow-141"/>
          <p:cNvSpPr/>
          <p:nvPr/>
        </p:nvSpPr>
        <p:spPr>
          <a:xfrm>
            <a:off x="7004304" y="2148840"/>
            <a:ext cx="18288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card-142"/>
          <p:cNvSpPr/>
          <p:nvPr/>
        </p:nvSpPr>
        <p:spPr>
          <a:xfrm>
            <a:off x="7187184" y="1143000"/>
            <a:ext cx="1499616" cy="20116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on-bg-143"/>
          <p:cNvSpPr/>
          <p:nvPr/>
        </p:nvSpPr>
        <p:spPr>
          <a:xfrm>
            <a:off x="7662672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icon-14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346" y="1411834"/>
            <a:ext cx="285293" cy="285293"/>
          </a:xfrm>
          <a:prstGeom prst="rect">
            <a:avLst/>
          </a:prstGeom>
        </p:spPr>
      </p:pic>
      <p:sp>
        <p:nvSpPr>
          <p:cNvPr id="30" name="text-145"/>
          <p:cNvSpPr txBox="1"/>
          <p:nvPr/>
        </p:nvSpPr>
        <p:spPr>
          <a:xfrm>
            <a:off x="7278624" y="192024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GitOps deploy</a:t>
            </a:r>
            <a:endParaRPr lang="en-US" sz="1400" dirty="0"/>
          </a:p>
        </p:txBody>
      </p:sp>
      <p:sp>
        <p:nvSpPr>
          <p:cNvPr id="31" name="text-146"/>
          <p:cNvSpPr txBox="1"/>
          <p:nvPr/>
        </p:nvSpPr>
        <p:spPr>
          <a:xfrm>
            <a:off x="7278624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Push to GHCR, commit tag, Argo CD syncs</a:t>
            </a:r>
            <a:endParaRPr lang="en-US" sz="1100" dirty="0"/>
          </a:p>
        </p:txBody>
      </p:sp>
      <p:sp>
        <p:nvSpPr>
          <p:cNvPr id="32" name="text-147"/>
          <p:cNvSpPr txBox="1"/>
          <p:nvPr/>
        </p:nvSpPr>
        <p:spPr>
          <a:xfrm>
            <a:off x="45720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Gate before push</a:t>
            </a:r>
            <a:endParaRPr lang="en-US" sz="1400" dirty="0"/>
          </a:p>
        </p:txBody>
      </p:sp>
      <p:sp>
        <p:nvSpPr>
          <p:cNvPr id="33" name="text-148"/>
          <p:cNvSpPr txBox="1"/>
          <p:nvPr/>
        </p:nvSpPr>
        <p:spPr>
          <a:xfrm>
            <a:off x="457200" y="3749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image reaches GHCR unless every test and scan passes</a:t>
            </a:r>
            <a:endParaRPr lang="en-US" sz="1200" dirty="0"/>
          </a:p>
        </p:txBody>
      </p:sp>
      <p:sp>
        <p:nvSpPr>
          <p:cNvPr id="34" name="text-149"/>
          <p:cNvSpPr txBox="1"/>
          <p:nvPr/>
        </p:nvSpPr>
        <p:spPr>
          <a:xfrm>
            <a:off x="324612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SHA, never latest</a:t>
            </a:r>
            <a:endParaRPr lang="en-US" sz="1400" dirty="0"/>
          </a:p>
        </p:txBody>
      </p:sp>
      <p:sp>
        <p:nvSpPr>
          <p:cNvPr id="35" name="text-150"/>
          <p:cNvSpPr txBox="1"/>
          <p:nvPr/>
        </p:nvSpPr>
        <p:spPr>
          <a:xfrm>
            <a:off x="3246120" y="3749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commit → image → pod is always traceable (shown in the UI footer)</a:t>
            </a:r>
            <a:endParaRPr lang="en-US" sz="1200" dirty="0"/>
          </a:p>
        </p:txBody>
      </p:sp>
      <p:sp>
        <p:nvSpPr>
          <p:cNvPr id="36" name="text-151"/>
          <p:cNvSpPr txBox="1"/>
          <p:nvPr/>
        </p:nvSpPr>
        <p:spPr>
          <a:xfrm>
            <a:off x="6035040" y="3429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Pull, not push</a:t>
            </a:r>
            <a:endParaRPr lang="en-US" sz="1400" dirty="0"/>
          </a:p>
        </p:txBody>
      </p:sp>
      <p:sp>
        <p:nvSpPr>
          <p:cNvPr id="37" name="text-152"/>
          <p:cNvSpPr txBox="1"/>
          <p:nvPr/>
        </p:nvSpPr>
        <p:spPr>
          <a:xfrm>
            <a:off x="6035040" y="3749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 never holds cluster credentials; Argo CD pulls from Git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Pipeline run on GitHub Actions</a:t>
            </a:r>
            <a:endParaRPr lang="en-US" sz="2800" dirty="0"/>
          </a:p>
        </p:txBody>
      </p:sp>
      <p:pic>
        <p:nvPicPr>
          <p:cNvPr id="3" name="ci-screenshot" descr="/private/tmp/claude-501/shots/ci-cd-pipeline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957" y="1005840"/>
            <a:ext cx="6626087" cy="3429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-153"/>
          <p:cNvSpPr txBox="1"/>
          <p:nvPr/>
        </p:nvSpPr>
        <p:spPr>
          <a:xfrm>
            <a:off x="457200" y="45262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Live run: </a:t>
            </a:r>
            <a:pPr indent="0" marL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https://github.com/pranay-reddy2/BloodBridge/actions/runs/38284457781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Security at every layer</a:t>
            </a:r>
            <a:endParaRPr lang="en-US" sz="2800" dirty="0"/>
          </a:p>
        </p:txBody>
      </p:sp>
      <p:sp>
        <p:nvSpPr>
          <p:cNvPr id="3" name="card-154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155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457554"/>
            <a:ext cx="285293" cy="285293"/>
          </a:xfrm>
          <a:prstGeom prst="rect">
            <a:avLst/>
          </a:prstGeom>
        </p:spPr>
      </p:pic>
      <p:sp>
        <p:nvSpPr>
          <p:cNvPr id="6" name="text-157"/>
          <p:cNvSpPr txBox="1"/>
          <p:nvPr/>
        </p:nvSpPr>
        <p:spPr>
          <a:xfrm>
            <a:off x="137160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Code</a:t>
            </a:r>
            <a:endParaRPr lang="en-US" sz="1500" dirty="0"/>
          </a:p>
        </p:txBody>
      </p:sp>
      <p:sp>
        <p:nvSpPr>
          <p:cNvPr id="7" name="text-158"/>
          <p:cNvSpPr txBox="1"/>
          <p:nvPr/>
        </p:nvSpPr>
        <p:spPr>
          <a:xfrm>
            <a:off x="1371600" y="1554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ruff security rules, Pydantic validation, ORM-parameterised SQL</a:t>
            </a:r>
            <a:endParaRPr lang="en-US" sz="1200" dirty="0"/>
          </a:p>
        </p:txBody>
      </p:sp>
      <p:sp>
        <p:nvSpPr>
          <p:cNvPr id="8" name="card-159"/>
          <p:cNvSpPr/>
          <p:nvPr/>
        </p:nvSpPr>
        <p:spPr>
          <a:xfrm>
            <a:off x="466344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160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994" y="1457554"/>
            <a:ext cx="285293" cy="285293"/>
          </a:xfrm>
          <a:prstGeom prst="rect">
            <a:avLst/>
          </a:prstGeom>
        </p:spPr>
      </p:pic>
      <p:sp>
        <p:nvSpPr>
          <p:cNvPr id="11" name="text-162"/>
          <p:cNvSpPr txBox="1"/>
          <p:nvPr/>
        </p:nvSpPr>
        <p:spPr>
          <a:xfrm>
            <a:off x="557784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Dependencies</a:t>
            </a:r>
            <a:endParaRPr lang="en-US" sz="1500" dirty="0"/>
          </a:p>
        </p:txBody>
      </p:sp>
      <p:sp>
        <p:nvSpPr>
          <p:cNvPr id="12" name="text-163"/>
          <p:cNvSpPr txBox="1"/>
          <p:nvPr/>
        </p:nvSpPr>
        <p:spPr>
          <a:xfrm>
            <a:off x="5577840" y="1554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Trivy dependency scan + weekly Dependabot PRs</a:t>
            </a:r>
            <a:endParaRPr lang="en-US" sz="1200" dirty="0"/>
          </a:p>
        </p:txBody>
      </p:sp>
      <p:sp>
        <p:nvSpPr>
          <p:cNvPr id="13" name="card-164"/>
          <p:cNvSpPr/>
          <p:nvPr/>
        </p:nvSpPr>
        <p:spPr>
          <a:xfrm>
            <a:off x="457200" y="2240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165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1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2600554"/>
            <a:ext cx="285293" cy="285293"/>
          </a:xfrm>
          <a:prstGeom prst="rect">
            <a:avLst/>
          </a:prstGeom>
        </p:spPr>
      </p:pic>
      <p:sp>
        <p:nvSpPr>
          <p:cNvPr id="16" name="text-167"/>
          <p:cNvSpPr txBox="1"/>
          <p:nvPr/>
        </p:nvSpPr>
        <p:spPr>
          <a:xfrm>
            <a:off x="137160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Secrets</a:t>
            </a:r>
            <a:endParaRPr lang="en-US" sz="1500" dirty="0"/>
          </a:p>
        </p:txBody>
      </p:sp>
      <p:sp>
        <p:nvSpPr>
          <p:cNvPr id="17" name="text-168"/>
          <p:cNvSpPr txBox="1"/>
          <p:nvPr/>
        </p:nvSpPr>
        <p:spPr>
          <a:xfrm>
            <a:off x="1371600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Trivy secret scan; DB password created out-of-band, never in Git</a:t>
            </a:r>
            <a:endParaRPr lang="en-US" sz="1200" dirty="0"/>
          </a:p>
        </p:txBody>
      </p:sp>
      <p:sp>
        <p:nvSpPr>
          <p:cNvPr id="18" name="card-169"/>
          <p:cNvSpPr/>
          <p:nvPr/>
        </p:nvSpPr>
        <p:spPr>
          <a:xfrm>
            <a:off x="4663440" y="2240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170"/>
          <p:cNvSpPr/>
          <p:nvPr/>
        </p:nvSpPr>
        <p:spPr>
          <a:xfrm>
            <a:off x="484632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1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994" y="2600554"/>
            <a:ext cx="285293" cy="285293"/>
          </a:xfrm>
          <a:prstGeom prst="rect">
            <a:avLst/>
          </a:prstGeom>
        </p:spPr>
      </p:pic>
      <p:sp>
        <p:nvSpPr>
          <p:cNvPr id="21" name="text-172"/>
          <p:cNvSpPr txBox="1"/>
          <p:nvPr/>
        </p:nvSpPr>
        <p:spPr>
          <a:xfrm>
            <a:off x="55778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Images</a:t>
            </a:r>
            <a:endParaRPr lang="en-US" sz="1500" dirty="0"/>
          </a:p>
        </p:txBody>
      </p:sp>
      <p:sp>
        <p:nvSpPr>
          <p:cNvPr id="22" name="text-173"/>
          <p:cNvSpPr txBox="1"/>
          <p:nvPr/>
        </p:nvSpPr>
        <p:spPr>
          <a:xfrm>
            <a:off x="5577840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Non-root, multi-stage; HIGH/CRITICAL gate; CycloneDX SBOM</a:t>
            </a:r>
            <a:endParaRPr lang="en-US" sz="1200" dirty="0"/>
          </a:p>
        </p:txBody>
      </p:sp>
      <p:sp>
        <p:nvSpPr>
          <p:cNvPr id="23" name="card-174"/>
          <p:cNvSpPr/>
          <p:nvPr/>
        </p:nvSpPr>
        <p:spPr>
          <a:xfrm>
            <a:off x="457200" y="3383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175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17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3743554"/>
            <a:ext cx="285293" cy="285293"/>
          </a:xfrm>
          <a:prstGeom prst="rect">
            <a:avLst/>
          </a:prstGeom>
        </p:spPr>
      </p:pic>
      <p:sp>
        <p:nvSpPr>
          <p:cNvPr id="26" name="text-177"/>
          <p:cNvSpPr txBox="1"/>
          <p:nvPr/>
        </p:nvSpPr>
        <p:spPr>
          <a:xfrm>
            <a:off x="137160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Runtime</a:t>
            </a:r>
            <a:endParaRPr lang="en-US" sz="1500" dirty="0"/>
          </a:p>
        </p:txBody>
      </p:sp>
      <p:sp>
        <p:nvSpPr>
          <p:cNvPr id="27" name="text-178"/>
          <p:cNvSpPr txBox="1"/>
          <p:nvPr/>
        </p:nvSpPr>
        <p:spPr>
          <a:xfrm>
            <a:off x="1371600" y="3840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Read-only root FS, drop ALL caps, seccomp, Pod Security labels</a:t>
            </a:r>
            <a:endParaRPr lang="en-US" sz="1200" dirty="0"/>
          </a:p>
        </p:txBody>
      </p:sp>
      <p:sp>
        <p:nvSpPr>
          <p:cNvPr id="28" name="card-179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180"/>
          <p:cNvSpPr/>
          <p:nvPr/>
        </p:nvSpPr>
        <p:spPr>
          <a:xfrm>
            <a:off x="484632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18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994" y="3743554"/>
            <a:ext cx="285293" cy="285293"/>
          </a:xfrm>
          <a:prstGeom prst="rect">
            <a:avLst/>
          </a:prstGeom>
        </p:spPr>
      </p:pic>
      <p:sp>
        <p:nvSpPr>
          <p:cNvPr id="31" name="text-182"/>
          <p:cNvSpPr txBox="1"/>
          <p:nvPr/>
        </p:nvSpPr>
        <p:spPr>
          <a:xfrm>
            <a:off x="557784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Network &amp; cloud</a:t>
            </a:r>
            <a:endParaRPr lang="en-US" sz="1500" dirty="0"/>
          </a:p>
        </p:txBody>
      </p:sp>
      <p:sp>
        <p:nvSpPr>
          <p:cNvPr id="32" name="text-183"/>
          <p:cNvSpPr txBox="1"/>
          <p:nvPr/>
        </p:nvSpPr>
        <p:spPr>
          <a:xfrm>
            <a:off x="5577840" y="3840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NetworkPolicy to Postgres, IRSA for EBS CSI, audit logs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Infrastructure as Code with Terraform</a:t>
            </a:r>
            <a:endParaRPr lang="en-US" sz="2800" dirty="0"/>
          </a:p>
        </p:txBody>
      </p:sp>
      <p:sp>
        <p:nvSpPr>
          <p:cNvPr id="3" name="vpc-boundary"/>
          <p:cNvSpPr/>
          <p:nvPr/>
        </p:nvSpPr>
        <p:spPr>
          <a:xfrm>
            <a:off x="457200" y="1051560"/>
            <a:ext cx="5120640" cy="3520440"/>
          </a:xfrm>
          <a:prstGeom prst="roundRect">
            <a:avLst>
              <a:gd name="adj" fmla="val 129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" name="text-184"/>
          <p:cNvSpPr txBox="1"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VPC 10.42.0.0/16 · ap-south-1</a:t>
            </a:r>
            <a:endParaRPr lang="en-US" sz="1000" dirty="0"/>
          </a:p>
        </p:txBody>
      </p:sp>
      <p:sp>
        <p:nvSpPr>
          <p:cNvPr id="5" name="text-185"/>
          <p:cNvSpPr txBox="1"/>
          <p:nvPr/>
        </p:nvSpPr>
        <p:spPr>
          <a:xfrm>
            <a:off x="6858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AZ a</a:t>
            </a:r>
            <a:endParaRPr lang="en-US" sz="1100" dirty="0"/>
          </a:p>
        </p:txBody>
      </p:sp>
      <p:sp>
        <p:nvSpPr>
          <p:cNvPr id="6" name="node-186"/>
          <p:cNvSpPr/>
          <p:nvPr/>
        </p:nvSpPr>
        <p:spPr>
          <a:xfrm>
            <a:off x="685800" y="1691640"/>
            <a:ext cx="2194560" cy="6858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node-label-187"/>
          <p:cNvSpPr txBox="1"/>
          <p:nvPr/>
        </p:nvSpPr>
        <p:spPr>
          <a:xfrm>
            <a:off x="68580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Public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10.42.0.0/24 · load balancer</a:t>
            </a:r>
            <a:endParaRPr lang="en-US" sz="1200" dirty="0"/>
          </a:p>
        </p:txBody>
      </p:sp>
      <p:sp>
        <p:nvSpPr>
          <p:cNvPr id="8" name="node-188"/>
          <p:cNvSpPr/>
          <p:nvPr/>
        </p:nvSpPr>
        <p:spPr>
          <a:xfrm>
            <a:off x="685800" y="2651760"/>
            <a:ext cx="2194560" cy="86868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ode-label-189"/>
          <p:cNvSpPr txBox="1"/>
          <p:nvPr/>
        </p:nvSpPr>
        <p:spPr>
          <a:xfrm>
            <a:off x="68580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Private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10.42.16.0/20 · t3.medium node</a:t>
            </a:r>
            <a:endParaRPr lang="en-US" sz="1200" dirty="0"/>
          </a:p>
        </p:txBody>
      </p:sp>
      <p:sp>
        <p:nvSpPr>
          <p:cNvPr id="10" name="text-190"/>
          <p:cNvSpPr txBox="1"/>
          <p:nvPr/>
        </p:nvSpPr>
        <p:spPr>
          <a:xfrm>
            <a:off x="31546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AZ b</a:t>
            </a:r>
            <a:endParaRPr lang="en-US" sz="1100" dirty="0"/>
          </a:p>
        </p:txBody>
      </p:sp>
      <p:sp>
        <p:nvSpPr>
          <p:cNvPr id="11" name="node-191"/>
          <p:cNvSpPr/>
          <p:nvPr/>
        </p:nvSpPr>
        <p:spPr>
          <a:xfrm>
            <a:off x="3154680" y="1691640"/>
            <a:ext cx="2194560" cy="6858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ode-label-192"/>
          <p:cNvSpPr txBox="1"/>
          <p:nvPr/>
        </p:nvSpPr>
        <p:spPr>
          <a:xfrm>
            <a:off x="315468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Public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10.42.1.0/24 · load balancer</a:t>
            </a:r>
            <a:endParaRPr lang="en-US" sz="1200" dirty="0"/>
          </a:p>
        </p:txBody>
      </p:sp>
      <p:sp>
        <p:nvSpPr>
          <p:cNvPr id="13" name="node-193"/>
          <p:cNvSpPr/>
          <p:nvPr/>
        </p:nvSpPr>
        <p:spPr>
          <a:xfrm>
            <a:off x="3154680" y="2651760"/>
            <a:ext cx="2194560" cy="86868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ode-label-194"/>
          <p:cNvSpPr txBox="1"/>
          <p:nvPr/>
        </p:nvSpPr>
        <p:spPr>
          <a:xfrm>
            <a:off x="3154680" y="2651760"/>
            <a:ext cx="21945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Private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10.42.32.0/20 · t3.medium node</a:t>
            </a:r>
            <a:endParaRPr lang="en-US" sz="1200" dirty="0"/>
          </a:p>
        </p:txBody>
      </p:sp>
      <p:sp>
        <p:nvSpPr>
          <p:cNvPr id="15" name="node-195"/>
          <p:cNvSpPr/>
          <p:nvPr/>
        </p:nvSpPr>
        <p:spPr>
          <a:xfrm>
            <a:off x="685800" y="3749040"/>
            <a:ext cx="46634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ode-label-196"/>
          <p:cNvSpPr txBox="1"/>
          <p:nvPr/>
        </p:nvSpPr>
        <p:spPr>
          <a:xfrm>
            <a:off x="685800" y="3749040"/>
            <a:ext cx="4663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EKS 1.34 control plane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managed node group 2–4 · AL2023 · access entries</a:t>
            </a:r>
            <a:endParaRPr lang="en-US" sz="1200" dirty="0"/>
          </a:p>
        </p:txBody>
      </p:sp>
      <p:sp>
        <p:nvSpPr>
          <p:cNvPr id="17" name="text-197"/>
          <p:cNvSpPr txBox="1"/>
          <p:nvPr/>
        </p:nvSpPr>
        <p:spPr>
          <a:xfrm>
            <a:off x="585216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Modules</a:t>
            </a:r>
            <a:endParaRPr lang="en-US" sz="1400" dirty="0"/>
          </a:p>
        </p:txBody>
      </p:sp>
      <p:sp>
        <p:nvSpPr>
          <p:cNvPr id="18" name="text-198"/>
          <p:cNvSpPr txBox="1"/>
          <p:nvPr/>
        </p:nvSpPr>
        <p:spPr>
          <a:xfrm>
            <a:off x="585216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terraform-aws-modules VPC 5.21 · EKS 20.37 · IAM (IRSA)</a:t>
            </a:r>
            <a:endParaRPr lang="en-US" sz="1200" dirty="0"/>
          </a:p>
        </p:txBody>
      </p:sp>
      <p:sp>
        <p:nvSpPr>
          <p:cNvPr id="19" name="text-199"/>
          <p:cNvSpPr txBox="1"/>
          <p:nvPr/>
        </p:nvSpPr>
        <p:spPr>
          <a:xfrm>
            <a:off x="585216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Add-ons</a:t>
            </a:r>
            <a:endParaRPr lang="en-US" sz="1400" dirty="0"/>
          </a:p>
        </p:txBody>
      </p:sp>
      <p:sp>
        <p:nvSpPr>
          <p:cNvPr id="20" name="text-200"/>
          <p:cNvSpPr txBox="1"/>
          <p:nvPr/>
        </p:nvSpPr>
        <p:spPr>
          <a:xfrm>
            <a:off x="585216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vpc-cni (NetworkPolicy on), coredns, kube-proxy, EBS CSI</a:t>
            </a:r>
            <a:endParaRPr lang="en-US" sz="1200" dirty="0"/>
          </a:p>
        </p:txBody>
      </p:sp>
      <p:sp>
        <p:nvSpPr>
          <p:cNvPr id="21" name="text-201"/>
          <p:cNvSpPr txBox="1"/>
          <p:nvPr/>
        </p:nvSpPr>
        <p:spPr>
          <a:xfrm>
            <a:off x="585216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Safety</a:t>
            </a:r>
            <a:endParaRPr lang="en-US" sz="1400" dirty="0"/>
          </a:p>
        </p:txBody>
      </p:sp>
      <p:sp>
        <p:nvSpPr>
          <p:cNvPr id="22" name="text-202"/>
          <p:cNvSpPr txBox="1"/>
          <p:nvPr/>
        </p:nvSpPr>
        <p:spPr>
          <a:xfrm>
            <a:off x="585216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credentials in code · tfvars git-ignored · lock file committed</a:t>
            </a:r>
            <a:endParaRPr lang="en-US" sz="1200" dirty="0"/>
          </a:p>
        </p:txBody>
      </p:sp>
      <p:sp>
        <p:nvSpPr>
          <p:cNvPr id="23" name="text-203"/>
          <p:cNvSpPr txBox="1"/>
          <p:nvPr/>
        </p:nvSpPr>
        <p:spPr>
          <a:xfrm>
            <a:off x="585216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Cost</a:t>
            </a:r>
            <a:endParaRPr lang="en-US" sz="1400" dirty="0"/>
          </a:p>
        </p:txBody>
      </p:sp>
      <p:sp>
        <p:nvSpPr>
          <p:cNvPr id="24" name="text-204"/>
          <p:cNvSpPr txBox="1"/>
          <p:nvPr/>
        </p:nvSpPr>
        <p:spPr>
          <a:xfrm>
            <a:off x="585216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≈ $6–8 per day → terraform destroy after the demo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Kubernetes, Helm and GitOps with Argo CD</a:t>
            </a:r>
            <a:endParaRPr lang="en-US" sz="2800" dirty="0"/>
          </a:p>
        </p:txBody>
      </p:sp>
      <p:sp>
        <p:nvSpPr>
          <p:cNvPr id="3" name="icon-bg-205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con-2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228954"/>
            <a:ext cx="285293" cy="285293"/>
          </a:xfrm>
          <a:prstGeom prst="rect">
            <a:avLst/>
          </a:prstGeom>
        </p:spPr>
      </p:pic>
      <p:sp>
        <p:nvSpPr>
          <p:cNvPr id="5" name="text-207"/>
          <p:cNvSpPr txBox="1"/>
          <p:nvPr/>
        </p:nvSpPr>
        <p:spPr>
          <a:xfrm>
            <a:off x="1143000" y="1143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git push to main</a:t>
            </a:r>
            <a:endParaRPr lang="en-US" sz="1300" dirty="0"/>
          </a:p>
        </p:txBody>
      </p:sp>
      <p:sp>
        <p:nvSpPr>
          <p:cNvPr id="6" name="arrow-208"/>
          <p:cNvSpPr/>
          <p:nvPr/>
        </p:nvSpPr>
        <p:spPr>
          <a:xfrm>
            <a:off x="731520" y="1645920"/>
            <a:ext cx="914" cy="228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icon-bg-209"/>
          <p:cNvSpPr/>
          <p:nvPr/>
        </p:nvSpPr>
        <p:spPr>
          <a:xfrm>
            <a:off x="457200" y="18745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con-2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4" y="2006194"/>
            <a:ext cx="285293" cy="285293"/>
          </a:xfrm>
          <a:prstGeom prst="rect">
            <a:avLst/>
          </a:prstGeom>
        </p:spPr>
      </p:pic>
      <p:sp>
        <p:nvSpPr>
          <p:cNvPr id="9" name="text-211"/>
          <p:cNvSpPr txBox="1"/>
          <p:nvPr/>
        </p:nvSpPr>
        <p:spPr>
          <a:xfrm>
            <a:off x="114300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 writes the new SHA into values-prod.yaml</a:t>
            </a:r>
            <a:endParaRPr lang="en-US" sz="1300" dirty="0"/>
          </a:p>
        </p:txBody>
      </p:sp>
      <p:sp>
        <p:nvSpPr>
          <p:cNvPr id="10" name="arrow-212"/>
          <p:cNvSpPr/>
          <p:nvPr/>
        </p:nvSpPr>
        <p:spPr>
          <a:xfrm>
            <a:off x="731520" y="2423160"/>
            <a:ext cx="914" cy="228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icon-bg-213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2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2783434"/>
            <a:ext cx="285293" cy="285293"/>
          </a:xfrm>
          <a:prstGeom prst="rect">
            <a:avLst/>
          </a:prstGeom>
        </p:spPr>
      </p:pic>
      <p:sp>
        <p:nvSpPr>
          <p:cNvPr id="13" name="text-215"/>
          <p:cNvSpPr txBox="1"/>
          <p:nvPr/>
        </p:nvSpPr>
        <p:spPr>
          <a:xfrm>
            <a:off x="114300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Argo CD detects the commit (≈60 s) and syncs</a:t>
            </a:r>
            <a:endParaRPr lang="en-US" sz="1300" dirty="0"/>
          </a:p>
        </p:txBody>
      </p:sp>
      <p:sp>
        <p:nvSpPr>
          <p:cNvPr id="14" name="arrow-216"/>
          <p:cNvSpPr/>
          <p:nvPr/>
        </p:nvSpPr>
        <p:spPr>
          <a:xfrm>
            <a:off x="731520" y="3200400"/>
            <a:ext cx="914" cy="228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icon-bg-217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con-2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4" y="3560674"/>
            <a:ext cx="285293" cy="285293"/>
          </a:xfrm>
          <a:prstGeom prst="rect">
            <a:avLst/>
          </a:prstGeom>
        </p:spPr>
      </p:pic>
      <p:sp>
        <p:nvSpPr>
          <p:cNvPr id="17" name="text-219"/>
          <p:cNvSpPr txBox="1"/>
          <p:nvPr/>
        </p:nvSpPr>
        <p:spPr>
          <a:xfrm>
            <a:off x="114300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Helm chart rolls out with zero downtime</a:t>
            </a:r>
            <a:endParaRPr lang="en-US" sz="1300" dirty="0"/>
          </a:p>
        </p:txBody>
      </p:sp>
      <p:sp>
        <p:nvSpPr>
          <p:cNvPr id="18" name="text-220"/>
          <p:cNvSpPr txBox="1"/>
          <p:nvPr/>
        </p:nvSpPr>
        <p:spPr>
          <a:xfrm>
            <a:off x="4572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Self-heal reverts manual kubectl drift · prune removes deleted resources · rollback = git revert</a:t>
            </a:r>
            <a:endParaRPr lang="en-US" sz="1100" dirty="0"/>
          </a:p>
        </p:txBody>
      </p:sp>
      <p:sp>
        <p:nvSpPr>
          <p:cNvPr id="19" name="card-221"/>
          <p:cNvSpPr/>
          <p:nvPr/>
        </p:nvSpPr>
        <p:spPr>
          <a:xfrm>
            <a:off x="4343400" y="1097280"/>
            <a:ext cx="2057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222"/>
          <p:cNvSpPr txBox="1"/>
          <p:nvPr/>
        </p:nvSpPr>
        <p:spPr>
          <a:xfrm>
            <a:off x="4480560" y="1170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Deployments</a:t>
            </a:r>
            <a:endParaRPr lang="en-US" sz="1300" dirty="0"/>
          </a:p>
        </p:txBody>
      </p:sp>
      <p:sp>
        <p:nvSpPr>
          <p:cNvPr id="21" name="text-223"/>
          <p:cNvSpPr txBox="1"/>
          <p:nvPr/>
        </p:nvSpPr>
        <p:spPr>
          <a:xfrm>
            <a:off x="4480560" y="142646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frontend ×2, backend (startup/ready/live probes)</a:t>
            </a:r>
            <a:endParaRPr lang="en-US" sz="1050" dirty="0"/>
          </a:p>
        </p:txBody>
      </p:sp>
      <p:sp>
        <p:nvSpPr>
          <p:cNvPr id="22" name="card-224"/>
          <p:cNvSpPr/>
          <p:nvPr/>
        </p:nvSpPr>
        <p:spPr>
          <a:xfrm>
            <a:off x="6537960" y="1097280"/>
            <a:ext cx="2057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225"/>
          <p:cNvSpPr txBox="1"/>
          <p:nvPr/>
        </p:nvSpPr>
        <p:spPr>
          <a:xfrm>
            <a:off x="6675120" y="1170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StatefulSet</a:t>
            </a:r>
            <a:endParaRPr lang="en-US" sz="1300" dirty="0"/>
          </a:p>
        </p:txBody>
      </p:sp>
      <p:sp>
        <p:nvSpPr>
          <p:cNvPr id="24" name="text-226"/>
          <p:cNvSpPr txBox="1"/>
          <p:nvPr/>
        </p:nvSpPr>
        <p:spPr>
          <a:xfrm>
            <a:off x="6675120" y="142646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PostgreSQL on encrypted gp3 EBS</a:t>
            </a:r>
            <a:endParaRPr lang="en-US" sz="1050" dirty="0"/>
          </a:p>
        </p:txBody>
      </p:sp>
      <p:sp>
        <p:nvSpPr>
          <p:cNvPr id="25" name="card-227"/>
          <p:cNvSpPr/>
          <p:nvPr/>
        </p:nvSpPr>
        <p:spPr>
          <a:xfrm>
            <a:off x="4343400" y="1965960"/>
            <a:ext cx="2057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228"/>
          <p:cNvSpPr txBox="1"/>
          <p:nvPr/>
        </p:nvSpPr>
        <p:spPr>
          <a:xfrm>
            <a:off x="4480560" y="20391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HPA</a:t>
            </a:r>
            <a:endParaRPr lang="en-US" sz="1300" dirty="0"/>
          </a:p>
        </p:txBody>
      </p:sp>
      <p:sp>
        <p:nvSpPr>
          <p:cNvPr id="27" name="text-229"/>
          <p:cNvSpPr txBox="1"/>
          <p:nvPr/>
        </p:nvSpPr>
        <p:spPr>
          <a:xfrm>
            <a:off x="4480560" y="22951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backend 2 → 6 pods at 60% CPU</a:t>
            </a:r>
            <a:endParaRPr lang="en-US" sz="1050" dirty="0"/>
          </a:p>
        </p:txBody>
      </p:sp>
      <p:sp>
        <p:nvSpPr>
          <p:cNvPr id="28" name="card-230"/>
          <p:cNvSpPr/>
          <p:nvPr/>
        </p:nvSpPr>
        <p:spPr>
          <a:xfrm>
            <a:off x="6537960" y="1965960"/>
            <a:ext cx="2057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231"/>
          <p:cNvSpPr txBox="1"/>
          <p:nvPr/>
        </p:nvSpPr>
        <p:spPr>
          <a:xfrm>
            <a:off x="6675120" y="20391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PDB</a:t>
            </a:r>
            <a:endParaRPr lang="en-US" sz="1300" dirty="0"/>
          </a:p>
        </p:txBody>
      </p:sp>
      <p:sp>
        <p:nvSpPr>
          <p:cNvPr id="30" name="text-232"/>
          <p:cNvSpPr txBox="1"/>
          <p:nvPr/>
        </p:nvSpPr>
        <p:spPr>
          <a:xfrm>
            <a:off x="6675120" y="229514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minAvailable 1 during node drains</a:t>
            </a:r>
            <a:endParaRPr lang="en-US" sz="1050" dirty="0"/>
          </a:p>
        </p:txBody>
      </p:sp>
      <p:sp>
        <p:nvSpPr>
          <p:cNvPr id="31" name="card-233"/>
          <p:cNvSpPr/>
          <p:nvPr/>
        </p:nvSpPr>
        <p:spPr>
          <a:xfrm>
            <a:off x="4343400" y="2834640"/>
            <a:ext cx="2057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-234"/>
          <p:cNvSpPr txBox="1"/>
          <p:nvPr/>
        </p:nvSpPr>
        <p:spPr>
          <a:xfrm>
            <a:off x="4480560" y="2907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Ingress</a:t>
            </a:r>
            <a:endParaRPr lang="en-US" sz="1300" dirty="0"/>
          </a:p>
        </p:txBody>
      </p:sp>
      <p:sp>
        <p:nvSpPr>
          <p:cNvPr id="33" name="text-235"/>
          <p:cNvSpPr txBox="1"/>
          <p:nvPr/>
        </p:nvSpPr>
        <p:spPr>
          <a:xfrm>
            <a:off x="4480560" y="316382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Traefik: / → UI, /api → API</a:t>
            </a:r>
            <a:endParaRPr lang="en-US" sz="1050" dirty="0"/>
          </a:p>
        </p:txBody>
      </p:sp>
      <p:sp>
        <p:nvSpPr>
          <p:cNvPr id="34" name="card-236"/>
          <p:cNvSpPr/>
          <p:nvPr/>
        </p:nvSpPr>
        <p:spPr>
          <a:xfrm>
            <a:off x="6537960" y="2834640"/>
            <a:ext cx="2057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-237"/>
          <p:cNvSpPr txBox="1"/>
          <p:nvPr/>
        </p:nvSpPr>
        <p:spPr>
          <a:xfrm>
            <a:off x="6675120" y="2907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NetworkPolicy</a:t>
            </a:r>
            <a:endParaRPr lang="en-US" sz="1300" dirty="0"/>
          </a:p>
        </p:txBody>
      </p:sp>
      <p:sp>
        <p:nvSpPr>
          <p:cNvPr id="36" name="text-238"/>
          <p:cNvSpPr txBox="1"/>
          <p:nvPr/>
        </p:nvSpPr>
        <p:spPr>
          <a:xfrm>
            <a:off x="6675120" y="316382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only backend pods reach Postgres</a:t>
            </a:r>
            <a:endParaRPr lang="en-US" sz="1050" dirty="0"/>
          </a:p>
        </p:txBody>
      </p:sp>
      <p:sp>
        <p:nvSpPr>
          <p:cNvPr id="37" name="card-239"/>
          <p:cNvSpPr/>
          <p:nvPr/>
        </p:nvSpPr>
        <p:spPr>
          <a:xfrm>
            <a:off x="4343400" y="3703320"/>
            <a:ext cx="2057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-240"/>
          <p:cNvSpPr txBox="1"/>
          <p:nvPr/>
        </p:nvSpPr>
        <p:spPr>
          <a:xfrm>
            <a:off x="4480560" y="3776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CronJob</a:t>
            </a:r>
            <a:endParaRPr lang="en-US" sz="1300" dirty="0"/>
          </a:p>
        </p:txBody>
      </p:sp>
      <p:sp>
        <p:nvSpPr>
          <p:cNvPr id="39" name="text-241"/>
          <p:cNvSpPr txBox="1"/>
          <p:nvPr/>
        </p:nvSpPr>
        <p:spPr>
          <a:xfrm>
            <a:off x="4480560" y="403250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daily blood-unit expiry sweep</a:t>
            </a:r>
            <a:endParaRPr lang="en-US" sz="1050" dirty="0"/>
          </a:p>
        </p:txBody>
      </p:sp>
      <p:sp>
        <p:nvSpPr>
          <p:cNvPr id="40" name="card-242"/>
          <p:cNvSpPr/>
          <p:nvPr/>
        </p:nvSpPr>
        <p:spPr>
          <a:xfrm>
            <a:off x="6537960" y="3703320"/>
            <a:ext cx="20574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-243"/>
          <p:cNvSpPr txBox="1"/>
          <p:nvPr/>
        </p:nvSpPr>
        <p:spPr>
          <a:xfrm>
            <a:off x="6675120" y="3776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helm test</a:t>
            </a:r>
            <a:endParaRPr lang="en-US" sz="1300" dirty="0"/>
          </a:p>
        </p:txBody>
      </p:sp>
      <p:sp>
        <p:nvSpPr>
          <p:cNvPr id="42" name="text-244"/>
          <p:cNvSpPr txBox="1"/>
          <p:nvPr/>
        </p:nvSpPr>
        <p:spPr>
          <a:xfrm>
            <a:off x="6675120" y="403250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in-cluster smoke test of /ready and the UI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Observability: Prometheus and Grafana</a:t>
            </a:r>
            <a:endParaRPr lang="en-US" sz="2800" dirty="0"/>
          </a:p>
        </p:txBody>
      </p:sp>
      <p:sp>
        <p:nvSpPr>
          <p:cNvPr id="3" name="card-245"/>
          <p:cNvSpPr/>
          <p:nvPr/>
        </p:nvSpPr>
        <p:spPr>
          <a:xfrm>
            <a:off x="45720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24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-2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44168"/>
            <a:ext cx="237744" cy="237744"/>
          </a:xfrm>
          <a:prstGeom prst="rect">
            <a:avLst/>
          </a:prstGeom>
        </p:spPr>
      </p:pic>
      <p:sp>
        <p:nvSpPr>
          <p:cNvPr id="6" name="text-248"/>
          <p:cNvSpPr txBox="1"/>
          <p:nvPr/>
        </p:nvSpPr>
        <p:spPr>
          <a:xfrm>
            <a:off x="123444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Metrics from /metrics</a:t>
            </a:r>
            <a:endParaRPr lang="en-US" sz="1500" dirty="0"/>
          </a:p>
        </p:txBody>
      </p:sp>
      <p:sp>
        <p:nvSpPr>
          <p:cNvPr id="7" name="text-249"/>
          <p:cNvSpPr txBox="1"/>
          <p:nvPr/>
        </p:nvSpPr>
        <p:spPr>
          <a:xfrm>
            <a:off x="640080" y="1783080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http_requests_total · request rate, errors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http_request_duration_seconds · p50/p95/p99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bloodbridge_inventory_available_units · stock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bloodbridge_requests_open · queue depth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donations, units issued and shortfall counters</a:t>
            </a:r>
            <a:endParaRPr lang="en-US" sz="1200" dirty="0"/>
          </a:p>
        </p:txBody>
      </p:sp>
      <p:sp>
        <p:nvSpPr>
          <p:cNvPr id="8" name="card-250"/>
          <p:cNvSpPr/>
          <p:nvPr/>
        </p:nvSpPr>
        <p:spPr>
          <a:xfrm>
            <a:off x="470916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251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2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44168"/>
            <a:ext cx="237744" cy="237744"/>
          </a:xfrm>
          <a:prstGeom prst="rect">
            <a:avLst/>
          </a:prstGeom>
        </p:spPr>
      </p:pic>
      <p:sp>
        <p:nvSpPr>
          <p:cNvPr id="11" name="text-253"/>
          <p:cNvSpPr txBox="1"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Alerts and dashboard</a:t>
            </a:r>
            <a:endParaRPr lang="en-US" sz="1500" dirty="0"/>
          </a:p>
        </p:txBody>
      </p:sp>
      <p:sp>
        <p:nvSpPr>
          <p:cNvPr id="12" name="text-254"/>
          <p:cNvSpPr txBox="1"/>
          <p:nvPr/>
        </p:nvSpPr>
        <p:spPr>
          <a:xfrm>
            <a:off x="4892040" y="1783080"/>
            <a:ext cx="3703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Backend down · 5xx above 5% · p95 above 1 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Low stock per blood group (&lt; 5 units)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CRITICAL request open more than 15 min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Grafana dashboard auto-loaded from the chart: stock, golden signals, HPA replicas, CPU, memory, restarts</a:t>
            </a:r>
            <a:endParaRPr lang="en-US" sz="1200" dirty="0"/>
          </a:p>
        </p:txBody>
      </p:sp>
      <p:sp>
        <p:nvSpPr>
          <p:cNvPr id="13" name="text-255"/>
          <p:cNvSpPr txBox="1"/>
          <p:nvPr/>
        </p:nvSpPr>
        <p:spPr>
          <a:xfrm>
            <a:off x="45720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</a:t>
            </a:r>
            <a:endParaRPr lang="en-US" sz="3200" dirty="0"/>
          </a:p>
        </p:txBody>
      </p:sp>
      <p:sp>
        <p:nvSpPr>
          <p:cNvPr id="14" name="text-256"/>
          <p:cNvSpPr txBox="1"/>
          <p:nvPr/>
        </p:nvSpPr>
        <p:spPr>
          <a:xfrm>
            <a:off x="457200" y="4160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scrape interval via ServiceMonitor</a:t>
            </a:r>
            <a:endParaRPr lang="en-US" sz="1200" dirty="0"/>
          </a:p>
        </p:txBody>
      </p:sp>
      <p:sp>
        <p:nvSpPr>
          <p:cNvPr id="15" name="text-257"/>
          <p:cNvSpPr txBox="1"/>
          <p:nvPr/>
        </p:nvSpPr>
        <p:spPr>
          <a:xfrm>
            <a:off x="256032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-258"/>
          <p:cNvSpPr txBox="1"/>
          <p:nvPr/>
        </p:nvSpPr>
        <p:spPr>
          <a:xfrm>
            <a:off x="2560320" y="4160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PrometheusRule alerts</a:t>
            </a:r>
            <a:endParaRPr lang="en-US" sz="1200" dirty="0"/>
          </a:p>
        </p:txBody>
      </p:sp>
      <p:sp>
        <p:nvSpPr>
          <p:cNvPr id="17" name="text-259"/>
          <p:cNvSpPr txBox="1"/>
          <p:nvPr/>
        </p:nvSpPr>
        <p:spPr>
          <a:xfrm>
            <a:off x="466344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200" dirty="0"/>
          </a:p>
        </p:txBody>
      </p:sp>
      <p:sp>
        <p:nvSpPr>
          <p:cNvPr id="18" name="text-260"/>
          <p:cNvSpPr txBox="1"/>
          <p:nvPr/>
        </p:nvSpPr>
        <p:spPr>
          <a:xfrm>
            <a:off x="4663440" y="4160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Grafana dashboard panels</a:t>
            </a:r>
            <a:endParaRPr lang="en-US" sz="1200" dirty="0"/>
          </a:p>
        </p:txBody>
      </p:sp>
      <p:sp>
        <p:nvSpPr>
          <p:cNvPr id="19" name="text-261"/>
          <p:cNvSpPr txBox="1"/>
          <p:nvPr/>
        </p:nvSpPr>
        <p:spPr>
          <a:xfrm>
            <a:off x="676656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-262"/>
          <p:cNvSpPr txBox="1"/>
          <p:nvPr/>
        </p:nvSpPr>
        <p:spPr>
          <a:xfrm>
            <a:off x="6766560" y="4160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manual dashboard setup steps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Troubleshooting lab: five failure drills</a:t>
            </a:r>
            <a:endParaRPr lang="en-US" sz="2800" dirty="0"/>
          </a:p>
        </p:txBody>
      </p:sp>
      <p:graphicFrame>
        <p:nvGraphicFramePr>
          <p:cNvPr id="13" name="dril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Root cause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How it is diagnosed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ImagePullBackOff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Tag never pushed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kubectl describe pod → Events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Service without endpoints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Selector label typo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get endpointslices · --show-labels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Running, never Ready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Readiness probe on the wrong port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describe → probe failures, 0 restarts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OOMKilled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Memory limit below working set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Last State: exit code 137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Wrong DB password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Bad credentials in a rollout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Old pods keep serving; Argo CD self-heals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-263"/>
          <p:cNvSpPr/>
          <p:nvPr/>
        </p:nvSpPr>
        <p:spPr>
          <a:xfrm>
            <a:off x="457200" y="32461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bg-264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con-26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493008"/>
            <a:ext cx="237744" cy="237744"/>
          </a:xfrm>
          <a:prstGeom prst="rect">
            <a:avLst/>
          </a:prstGeom>
        </p:spPr>
      </p:pic>
      <p:sp>
        <p:nvSpPr>
          <p:cNvPr id="7" name="text-266"/>
          <p:cNvSpPr txBox="1"/>
          <p:nvPr/>
        </p:nvSpPr>
        <p:spPr>
          <a:xfrm>
            <a:off x="1280160" y="338328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Same loop every time: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→ describe pod → logs --previous → get events --sort-by=.lastTimestamp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learnings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2C9D2"/>
                </a:solidFill>
              </a:rPr>
              <a:t>What I would keep, and what comes next</a:t>
            </a:r>
            <a:endParaRPr lang="en-US" sz="1600" dirty="0"/>
          </a:p>
        </p:txBody>
      </p:sp>
      <p:sp>
        <p:nvSpPr>
          <p:cNvPr id="4" name="learn-card-267"/>
          <p:cNvSpPr/>
          <p:nvPr/>
        </p:nvSpPr>
        <p:spPr>
          <a:xfrm>
            <a:off x="548640" y="178308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10000"/>
              </a:schemeClr>
            </a:solidFill>
            <a:prstDash val="solid"/>
          </a:ln>
        </p:spPr>
      </p:sp>
      <p:sp>
        <p:nvSpPr>
          <p:cNvPr id="5" name="icon-bg-268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26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75688"/>
            <a:ext cx="237744" cy="237744"/>
          </a:xfrm>
          <a:prstGeom prst="rect">
            <a:avLst/>
          </a:prstGeom>
        </p:spPr>
      </p:pic>
      <p:sp>
        <p:nvSpPr>
          <p:cNvPr id="7" name="text-270"/>
          <p:cNvSpPr txBox="1"/>
          <p:nvPr/>
        </p:nvSpPr>
        <p:spPr>
          <a:xfrm>
            <a:off x="1325880" y="1984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Readiness ≠ liveness</a:t>
            </a:r>
            <a:endParaRPr lang="en-US" sz="1600" dirty="0"/>
          </a:p>
        </p:txBody>
      </p:sp>
      <p:sp>
        <p:nvSpPr>
          <p:cNvPr id="8" name="text-271"/>
          <p:cNvSpPr txBox="1"/>
          <p:nvPr/>
        </p:nvSpPr>
        <p:spPr>
          <a:xfrm>
            <a:off x="132588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C9D2"/>
                </a:solidFill>
              </a:rPr>
              <a:t>Checking the DB only in /ready stops a DB blip from becoming a restart storm</a:t>
            </a:r>
            <a:endParaRPr lang="en-US" sz="1200" dirty="0"/>
          </a:p>
        </p:txBody>
      </p:sp>
      <p:sp>
        <p:nvSpPr>
          <p:cNvPr id="9" name="learn-card-272"/>
          <p:cNvSpPr/>
          <p:nvPr/>
        </p:nvSpPr>
        <p:spPr>
          <a:xfrm>
            <a:off x="4663440" y="178308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10000"/>
              </a:schemeClr>
            </a:solidFill>
            <a:prstDash val="solid"/>
          </a:ln>
        </p:spPr>
      </p:sp>
      <p:sp>
        <p:nvSpPr>
          <p:cNvPr id="10" name="icon-bg-273"/>
          <p:cNvSpPr/>
          <p:nvPr/>
        </p:nvSpPr>
        <p:spPr>
          <a:xfrm>
            <a:off x="484632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27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075688"/>
            <a:ext cx="237744" cy="237744"/>
          </a:xfrm>
          <a:prstGeom prst="rect">
            <a:avLst/>
          </a:prstGeom>
        </p:spPr>
      </p:pic>
      <p:sp>
        <p:nvSpPr>
          <p:cNvPr id="12" name="text-275"/>
          <p:cNvSpPr txBox="1"/>
          <p:nvPr/>
        </p:nvSpPr>
        <p:spPr>
          <a:xfrm>
            <a:off x="5440680" y="1984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Gates before artifacts</a:t>
            </a:r>
            <a:endParaRPr lang="en-US" sz="1600" dirty="0"/>
          </a:p>
        </p:txBody>
      </p:sp>
      <p:sp>
        <p:nvSpPr>
          <p:cNvPr id="13" name="text-276"/>
          <p:cNvSpPr txBox="1"/>
          <p:nvPr/>
        </p:nvSpPr>
        <p:spPr>
          <a:xfrm>
            <a:off x="5440680" y="24231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C9D2"/>
                </a:solidFill>
              </a:rPr>
              <a:t>Tests and scans run before any image is pushed to the registry</a:t>
            </a:r>
            <a:endParaRPr lang="en-US" sz="1200" dirty="0"/>
          </a:p>
        </p:txBody>
      </p:sp>
      <p:sp>
        <p:nvSpPr>
          <p:cNvPr id="14" name="learn-card-277"/>
          <p:cNvSpPr/>
          <p:nvPr/>
        </p:nvSpPr>
        <p:spPr>
          <a:xfrm>
            <a:off x="548640" y="324612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10000"/>
              </a:schemeClr>
            </a:solidFill>
            <a:prstDash val="solid"/>
          </a:ln>
        </p:spPr>
      </p:sp>
      <p:sp>
        <p:nvSpPr>
          <p:cNvPr id="15" name="icon-bg-278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27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538728"/>
            <a:ext cx="237744" cy="237744"/>
          </a:xfrm>
          <a:prstGeom prst="rect">
            <a:avLst/>
          </a:prstGeom>
        </p:spPr>
      </p:pic>
      <p:sp>
        <p:nvSpPr>
          <p:cNvPr id="17" name="text-280"/>
          <p:cNvSpPr txBox="1"/>
          <p:nvPr/>
        </p:nvSpPr>
        <p:spPr>
          <a:xfrm>
            <a:off x="1325880" y="3447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Git is the deploy API</a:t>
            </a:r>
            <a:endParaRPr lang="en-US" sz="1600" dirty="0"/>
          </a:p>
        </p:txBody>
      </p:sp>
      <p:sp>
        <p:nvSpPr>
          <p:cNvPr id="18" name="text-281"/>
          <p:cNvSpPr txBox="1"/>
          <p:nvPr/>
        </p:nvSpPr>
        <p:spPr>
          <a:xfrm>
            <a:off x="1325880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C9D2"/>
                </a:solidFill>
              </a:rPr>
              <a:t>Argo CD + SHA tags make every rollout auditable and reversible</a:t>
            </a:r>
            <a:endParaRPr lang="en-US" sz="1200" dirty="0"/>
          </a:p>
        </p:txBody>
      </p:sp>
      <p:sp>
        <p:nvSpPr>
          <p:cNvPr id="19" name="learn-card-282"/>
          <p:cNvSpPr/>
          <p:nvPr/>
        </p:nvSpPr>
        <p:spPr>
          <a:xfrm>
            <a:off x="4663440" y="324612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10000"/>
              </a:schemeClr>
            </a:solidFill>
            <a:prstDash val="solid"/>
          </a:ln>
        </p:spPr>
      </p:sp>
      <p:sp>
        <p:nvSpPr>
          <p:cNvPr id="20" name="icon-bg-283"/>
          <p:cNvSpPr/>
          <p:nvPr/>
        </p:nvSpPr>
        <p:spPr>
          <a:xfrm>
            <a:off x="4846320" y="3429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-28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38728"/>
            <a:ext cx="237744" cy="237744"/>
          </a:xfrm>
          <a:prstGeom prst="rect">
            <a:avLst/>
          </a:prstGeom>
        </p:spPr>
      </p:pic>
      <p:sp>
        <p:nvSpPr>
          <p:cNvPr id="22" name="text-285"/>
          <p:cNvSpPr txBox="1"/>
          <p:nvPr/>
        </p:nvSpPr>
        <p:spPr>
          <a:xfrm>
            <a:off x="5440680" y="34472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23" name="text-286"/>
          <p:cNvSpPr txBox="1"/>
          <p:nvPr/>
        </p:nvSpPr>
        <p:spPr>
          <a:xfrm>
            <a:off x="5440680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C9D2"/>
                </a:solidFill>
              </a:rPr>
              <a:t>Amazon RDS, TLS with cert-manager, OIDC sign-in, per-AZ NAT gateways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odBridge">
  <a:themeElements>
    <a:clrScheme name="BloodBridge">
      <a:dk1>
        <a:srgbClr val="1B1F27"/>
      </a:dk1>
      <a:lt1>
        <a:srgbClr val="FFFFFF"/>
      </a:lt1>
      <a:dk2>
        <a:srgbClr val="2A0B14"/>
      </a:dk2>
      <a:lt2>
        <a:srgbClr val="F5F1F2"/>
      </a:lt2>
      <a:accent1>
        <a:srgbClr val="B3123A"/>
      </a:accent1>
      <a:accent2>
        <a:srgbClr val="0F766E"/>
      </a:accent2>
      <a:accent3>
        <a:srgbClr val="D9921F"/>
      </a:accent3>
      <a:accent4>
        <a:srgbClr val="2F5FD0"/>
      </a:accent4>
      <a:accent5>
        <a:srgbClr val="6B7280"/>
      </a:accent5>
      <a:accent6>
        <a:srgbClr val="15803D"/>
      </a:accent6>
      <a:hlink>
        <a:srgbClr val="B3123A"/>
      </a:hlink>
      <a:folHlink>
        <a:srgbClr val="7A1A30"/>
      </a:folHlink>
    </a:clrScheme>
    <a:fontScheme name="BloodBridg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BloodBridge — DevSecOps Capstone</dc:title>
  <dc:subject>PptxGenJS Presentation</dc:subject>
  <dc:creator>Pranay Reddy N</dc:creator>
  <cp:lastModifiedBy>Pranay Reddy N</cp:lastModifiedBy>
  <cp:revision>1</cp:revision>
  <dcterms:created xsi:type="dcterms:W3CDTF">2026-10-12T17:32:35Z</dcterms:created>
  <dcterms:modified xsi:type="dcterms:W3CDTF">2026-10-12T17:32:35Z</dcterms:modified>
</cp:coreProperties>
</file>